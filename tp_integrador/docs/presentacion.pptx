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649ffa8f-c77c-0049-1389-770fb166138d}">
          <p14:sldIdLst>
            <p14:sldId id="256"/>
          </p14:sldIdLst>
        </p14:section>
        <p14:section name="Arquitectura" id="{afcf42ef-1b23-88b6-ca40-2ba9b37873dc}">
          <p14:sldIdLst>
            <p14:sldId id="257"/>
          </p14:sldIdLst>
        </p14:section>
        <p14:section name="Mini-TPs" id="{fb7923d9-c6c3-561b-6b01-93b8089f8cfe}">
          <p14:sldIdLst>
            <p14:sldId id="258"/>
          </p14:sldIdLst>
        </p14:section>
        <p14:section name="Demo y cierre" id="{6461e08f-1bfd-e9fd-2ca6-6c917b5991ee}">
          <p14:sldIdLst>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Hola, soy Cecilia. Mi TP integrador es una plataforma de predicción de riesgo de ACV, accidente cerebrovascular. Parte del modelo que hice en Aprendizaje de Máquina: un RandomForest entrenado con unos 5.100 pacientes de un dataset de Kaggle. En esta materia el foco no es el modelo, sino cómo se opera en producción. Por eso el objetivo fue ese: un modelo en producción, orquestado, versionado, seguro y con datos trazables.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s) El corazón del TP es el stack de producción, a la izquierda. Corre todo en Docker y se levanta con un solo comando. Airflow tiene dos flujos. El primero descarga los datos, los limpia, convierte las variables categóricas, balancea las clases, los separa en entrenamiento y test (80/20) y los normaliza. Todo queda guardado en MinIO. El segundo reentrena el modelo con esos datos y lo compara con el que está en producción. En MLflow, el alias champion marca qué versión está en producción. El modelo nuevo toma su lugar solo si tiene mejor F1, y para volver atrás alcanza con mover esa etiqueta. La API siempre pide "el champion", así que nunca hay que tocar código ni reiniciar.
De los mini-TPs, elegí integrar dos al stack: la API REST con seguridad, que combina el TP1 y el TP7, y el data lake del TP6. Los elegí porque no son alternativas, sino cosas que cualquier sistema en producción necesita. Un modelo con datos de salud no puede estar expuesto sin autenticación, y los datos y los modelos tienen que guardarse versionados para poder auditar y volver atrás.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s) Como todos los mini-TPs usan el mismo modelo y el mismo preprocesamiento, los resultados se pueden comparar. No es para usarlos todos juntos, sino para entender en qué caso conviene cada uno.
Seguridad: sin token, la API responde 401; con un rol sin permiso, 403; si alguien consulta en ráfaga, 429. Ese límite frena el robo del modelo, porque quien consulta sin freno puede entrenar una copia. Y como son datos de salud, la auditoría guarda un hash, no el dato clínico.
Data lake: los datos se guardan en tres etapas: como llegaron, ya limpios, y los modelos entrenados. Cada versión del modelo se guarda aparte y nunca se pisa, así que siempre puedo volver a una anterior.
Los demás los usé para comparar alternativas. GraphQL devuelve solo lo que pido: 59 % menos bytes que REST. gRPC suma un contrato tipado, pensado para microservicios. En federado, el entrenamiento es didáctico: usé un modelo softmax, porque FedAvg promedia pesos y un RandomForest no tiene pesos que se puedan promediar. Con datos parejos entre nodos, la precisión es 0.78; con datos sesgados, cae a 0.52. Ese es el costo de no centralizar.
Y en streaming procesé 800 eventos con un p95 de unos 24 milisegundos, con una alerta de drift que avisa si cambia el perfil de los pacientes que llegan. A eso vuelvo al final, porque es lo próximo que integraría.
Ahora lo vemos funcionando.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(6 min)
ANTES: stack arriba desde tp_integrador\stack (docker ps: 6 healthy), tp_integrador\servir.bat (si falla, MODEL_SOURCE=local en :8007), correr .venv\Scripts\python.exe tp_integrador\datalake\publicar_champion.py, esperar 60 s tras probar la API.
1) Airflow (:8080, airflow/airflow): "Acá están los dos flujos. El primero prepara los datos y los deja en MinIO. El segundo entrena un modelo nuevo con los mismos hiperparámetros que el actual y los compara sobre el mismo set de test. Estas corridas ya están hechas."
2) MLflow (:5000, Model training → Models → stroke_prediction_model_prod): "El alias champion marca cuál está en producción. Para promover o volver atrás, solo muevo esa etiqueta."
3) API segura (:8009/docs): sin token → 401; Authorize analista/analista123 → 200 ("sirve el mismo champion de MLflow"); 5-6 veces → 429; invitado/invitado123 → 403; admin/admin123 → GET /v1/auditoria ("hash, no el dato del paciente").
4) MinIO (:9001, minio/minio123), bucket datalake-tp6: "Los datos están separados por etapa. Cada versión del modelo tiene su carpeta y nunca se sobrescribe. champion.json apunta a la versión en producción. Airflow entrena, MLflow decide el champion, la API segura lo sirve y el data lake guarda cada versión."
CIERRE (1 min): "El streaming quedó simulado con una cola en memoria, no con Kafka, y por eso no lo integré. Pero es lo siguiente que sumaría, por el monitoreo: la alerta de drift detecta cuándo los pacientes que llegan ya no se parecen a los del entrenamiento. Conectada al stack, podría disparar el reentrenamiento en Airflow, y el ciclo quedaría cerrado: detectar el cambio, reentrenar y promover el modelo solo si mejora. En resumen: un modelo en producción, orquestado, versionado, servido de forma segura y con cada versión guardada y trazable. Gracias."
SI PREGUNTAN: el F1 de la versión entregada se calculó con el pipeline corregido (SMOTE y scaler solo sobre entrenamiento; el test conserva la distribución real); el valor está en el README. Split 80/20. No integré todo porque un sistema real no lo necesita.
AL TERMINAR: tp_integrador\parar.bat y docker compose --profile all down (sin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8229600" cy="64008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54864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Ícono" descr="preencoded.png">    </p:cNvPr>
          <p:cNvPicPr>
            <a:picLocks noChangeAspect="1"/>
          </p:cNvPicPr>
          <p:nvPr/>
        </p:nvPicPr>
        <p:blipFill>
          <a:blip r:embed="rId1"/>
          <a:stretch>
            <a:fillRect/>
          </a:stretch>
        </p:blipFill>
        <p:spPr>
          <a:xfrm>
            <a:off x="457200" y="365760"/>
            <a:ext cx="457200" cy="457200"/>
          </a:xfrm>
          <a:prstGeom prst="rect">
            <a:avLst/>
          </a:prstGeom>
        </p:spPr>
      </p:pic>
      <p:sp>
        <p:nvSpPr>
          <p:cNvPr id="3" name="Text 0"/>
          <p:cNvSpPr txBox="1"/>
          <p:nvPr/>
        </p:nvSpPr>
        <p:spPr>
          <a:xfrm>
            <a:off x="457200" y="1005840"/>
            <a:ext cx="8229600" cy="274320"/>
          </a:xfrm>
          <a:prstGeom prst="rect">
            <a:avLst/>
          </a:prstGeom>
          <a:noFill/>
          <a:ln/>
        </p:spPr>
        <p:txBody>
          <a:bodyPr wrap="square" lIns="0" tIns="0" rIns="0" bIns="0" rtlCol="0" anchor="ctr"/>
          <a:lstStyle/>
          <a:p>
            <a:pPr indent="0" marL="0">
              <a:buNone/>
            </a:pPr>
            <a:r>
              <a:rPr lang="en-US" sz="1100" b="1" spc="100" kern="0" dirty="0">
                <a:solidFill>
                  <a:schemeClr val="accent2"/>
                </a:solidFill>
              </a:rPr>
              <a:t>TP INTEGRADOR · OPERACIONES DE APRENDIZAJE AUTOMÁTICO II · CEIA – FIUBA</a:t>
            </a:r>
            <a:endParaRPr lang="en-US" sz="1100" dirty="0"/>
          </a:p>
        </p:txBody>
      </p:sp>
      <p:sp>
        <p:nvSpPr>
          <p:cNvPr id="4" name="Título"/>
          <p:cNvSpPr txBox="1"/>
          <p:nvPr/>
        </p:nvSpPr>
        <p:spPr>
          <a:xfrm>
            <a:off x="457200" y="1325880"/>
            <a:ext cx="8046720" cy="960120"/>
          </a:xfrm>
          <a:prstGeom prst="rect">
            <a:avLst/>
          </a:prstGeom>
          <a:noFill/>
          <a:ln/>
        </p:spPr>
        <p:txBody>
          <a:bodyPr wrap="square" lIns="0" tIns="0" rIns="0" bIns="0" rtlCol="0" anchor="ctr"/>
          <a:lstStyle/>
          <a:p>
            <a:pPr indent="0" marL="0">
              <a:buNone/>
            </a:pPr>
            <a:r>
              <a:rPr lang="en-US" sz="3200" b="1" dirty="0">
                <a:solidFill>
                  <a:schemeClr val="bg1"/>
                </a:solidFill>
                <a:latin typeface="Arial" pitchFamily="34" charset="0"/>
                <a:ea typeface="Arial" pitchFamily="34" charset="-122"/>
                <a:cs typeface="Arial" pitchFamily="34" charset="-120"/>
              </a:rPr>
              <a:t>Plataforma de predicción</a:t>
            </a:r>
            <a:endParaRPr lang="en-US" sz="3200" dirty="0"/>
          </a:p>
          <a:p>
            <a:pPr indent="0" marL="0">
              <a:buNone/>
            </a:pPr>
            <a:r>
              <a:rPr lang="en-US" sz="3200" b="1" dirty="0">
                <a:solidFill>
                  <a:schemeClr val="bg1"/>
                </a:solidFill>
                <a:latin typeface="Arial" pitchFamily="34" charset="0"/>
                <a:ea typeface="Arial" pitchFamily="34" charset="-122"/>
                <a:cs typeface="Arial" pitchFamily="34" charset="-120"/>
              </a:rPr>
              <a:t>de riesgo de ACV</a:t>
            </a:r>
            <a:endParaRPr lang="en-US" sz="3200" dirty="0"/>
          </a:p>
        </p:txBody>
      </p:sp>
      <p:sp>
        <p:nvSpPr>
          <p:cNvPr id="5" name="Text 2"/>
          <p:cNvSpPr txBox="1"/>
          <p:nvPr/>
        </p:nvSpPr>
        <p:spPr>
          <a:xfrm>
            <a:off x="457200" y="2377440"/>
            <a:ext cx="8046720" cy="365760"/>
          </a:xfrm>
          <a:prstGeom prst="rect">
            <a:avLst/>
          </a:prstGeom>
          <a:noFill/>
          <a:ln/>
        </p:spPr>
        <p:txBody>
          <a:bodyPr wrap="square" lIns="0" tIns="0" rIns="0" bIns="0" rtlCol="0" anchor="ctr"/>
          <a:lstStyle/>
          <a:p>
            <a:pPr indent="0" marL="0">
              <a:buNone/>
            </a:pPr>
            <a:r>
              <a:rPr lang="en-US" sz="1600" i="1" dirty="0">
                <a:solidFill>
                  <a:srgbClr val="CBD5E1"/>
                </a:solidFill>
              </a:rPr>
              <a:t>Un modelo en producción: orquestado, versionado, seguro y con datos trazables.</a:t>
            </a:r>
            <a:endParaRPr lang="en-US" sz="1600" dirty="0"/>
          </a:p>
        </p:txBody>
      </p:sp>
      <p:sp>
        <p:nvSpPr>
          <p:cNvPr id="6" name="Text 3"/>
          <p:cNvSpPr txBox="1"/>
          <p:nvPr/>
        </p:nvSpPr>
        <p:spPr>
          <a:xfrm>
            <a:off x="457200" y="2834640"/>
            <a:ext cx="4572000" cy="274320"/>
          </a:xfrm>
          <a:prstGeom prst="rect">
            <a:avLst/>
          </a:prstGeom>
          <a:noFill/>
          <a:ln/>
        </p:spPr>
        <p:txBody>
          <a:bodyPr wrap="square" lIns="0" tIns="0" rIns="0" bIns="0" rtlCol="0" anchor="ctr"/>
          <a:lstStyle/>
          <a:p>
            <a:pPr indent="0" marL="0">
              <a:buNone/>
            </a:pPr>
            <a:r>
              <a:rPr lang="en-US" sz="1400" dirty="0">
                <a:solidFill>
                  <a:srgbClr val="94A3B8"/>
                </a:solidFill>
              </a:rPr>
              <a:t>Cecilia Villanueva</a:t>
            </a:r>
            <a:endParaRPr lang="en-US" sz="1400" dirty="0"/>
          </a:p>
        </p:txBody>
      </p:sp>
      <p:sp>
        <p:nvSpPr>
          <p:cNvPr id="7" name="Tarjeta 1"/>
          <p:cNvSpPr/>
          <p:nvPr/>
        </p:nvSpPr>
        <p:spPr>
          <a:xfrm>
            <a:off x="457200" y="3429000"/>
            <a:ext cx="1874520" cy="1234440"/>
          </a:xfrm>
          <a:prstGeom prst="roundRect">
            <a:avLst>
              <a:gd name="adj" fmla="val 5926"/>
            </a:avLst>
          </a:prstGeom>
          <a:solidFill>
            <a:srgbClr val="1C2B42"/>
          </a:solidFill>
          <a:ln w="12700">
            <a:solidFill>
              <a:srgbClr val="1C2B42"/>
            </a:solidFill>
            <a:prstDash val="solid"/>
          </a:ln>
        </p:spPr>
      </p:sp>
      <p:sp>
        <p:nvSpPr>
          <p:cNvPr id="8" name="Text 5"/>
          <p:cNvSpPr txBox="1"/>
          <p:nvPr/>
        </p:nvSpPr>
        <p:spPr>
          <a:xfrm>
            <a:off x="640080" y="3547872"/>
            <a:ext cx="1554480" cy="594360"/>
          </a:xfrm>
          <a:prstGeom prst="rect">
            <a:avLst/>
          </a:prstGeom>
          <a:noFill/>
          <a:ln/>
        </p:spPr>
        <p:txBody>
          <a:bodyPr wrap="square" lIns="0" tIns="0" rIns="0" bIns="0" rtlCol="0" anchor="ctr"/>
          <a:lstStyle/>
          <a:p>
            <a:pPr indent="0" marL="0">
              <a:buNone/>
            </a:pPr>
            <a:r>
              <a:rPr lang="en-US" sz="3200" b="1" dirty="0">
                <a:solidFill>
                  <a:schemeClr val="bg1"/>
                </a:solidFill>
                <a:latin typeface="Arial" pitchFamily="34" charset="0"/>
                <a:ea typeface="Arial" pitchFamily="34" charset="-122"/>
                <a:cs typeface="Arial" pitchFamily="34" charset="-120"/>
              </a:rPr>
              <a:t>~5.100</a:t>
            </a:r>
            <a:endParaRPr lang="en-US" sz="3200" dirty="0"/>
          </a:p>
        </p:txBody>
      </p:sp>
      <p:sp>
        <p:nvSpPr>
          <p:cNvPr id="9" name="Text 6"/>
          <p:cNvSpPr txBox="1"/>
          <p:nvPr/>
        </p:nvSpPr>
        <p:spPr>
          <a:xfrm>
            <a:off x="640080" y="4160520"/>
            <a:ext cx="1600200" cy="365760"/>
          </a:xfrm>
          <a:prstGeom prst="rect">
            <a:avLst/>
          </a:prstGeom>
          <a:noFill/>
          <a:ln/>
        </p:spPr>
        <p:txBody>
          <a:bodyPr wrap="square" lIns="0" tIns="0" rIns="0" bIns="0" rtlCol="0" anchor="ctr"/>
          <a:lstStyle/>
          <a:p>
            <a:pPr indent="0" marL="0">
              <a:buNone/>
            </a:pPr>
            <a:r>
              <a:rPr lang="en-US" sz="1100" dirty="0">
                <a:solidFill>
                  <a:srgbClr val="94A3B8"/>
                </a:solidFill>
              </a:rPr>
              <a:t>pacientes (Kaggle)</a:t>
            </a:r>
            <a:endParaRPr lang="en-US" sz="1100" dirty="0"/>
          </a:p>
        </p:txBody>
      </p:sp>
      <p:sp>
        <p:nvSpPr>
          <p:cNvPr id="10" name="Tarjeta 2"/>
          <p:cNvSpPr/>
          <p:nvPr/>
        </p:nvSpPr>
        <p:spPr>
          <a:xfrm>
            <a:off x="2560320" y="3429000"/>
            <a:ext cx="1874520" cy="1234440"/>
          </a:xfrm>
          <a:prstGeom prst="roundRect">
            <a:avLst>
              <a:gd name="adj" fmla="val 5926"/>
            </a:avLst>
          </a:prstGeom>
          <a:solidFill>
            <a:srgbClr val="1C2B42"/>
          </a:solidFill>
          <a:ln w="12700">
            <a:solidFill>
              <a:srgbClr val="1C2B42"/>
            </a:solidFill>
            <a:prstDash val="solid"/>
          </a:ln>
        </p:spPr>
      </p:sp>
      <p:sp>
        <p:nvSpPr>
          <p:cNvPr id="11" name="Text 8"/>
          <p:cNvSpPr txBox="1"/>
          <p:nvPr/>
        </p:nvSpPr>
        <p:spPr>
          <a:xfrm>
            <a:off x="2743200" y="3547872"/>
            <a:ext cx="1554480" cy="594360"/>
          </a:xfrm>
          <a:prstGeom prst="rect">
            <a:avLst/>
          </a:prstGeom>
          <a:noFill/>
          <a:ln/>
        </p:spPr>
        <p:txBody>
          <a:bodyPr wrap="square" lIns="0" tIns="0" rIns="0" bIns="0" rtlCol="0" anchor="ctr"/>
          <a:lstStyle/>
          <a:p>
            <a:pPr indent="0" marL="0">
              <a:buNone/>
            </a:pPr>
            <a:r>
              <a:rPr lang="en-US" sz="3200" b="1" dirty="0">
                <a:solidFill>
                  <a:schemeClr val="bg1"/>
                </a:solidFill>
                <a:latin typeface="Arial" pitchFamily="34" charset="0"/>
                <a:ea typeface="Arial" pitchFamily="34" charset="-122"/>
                <a:cs typeface="Arial" pitchFamily="34" charset="-120"/>
              </a:rPr>
              <a:t>2</a:t>
            </a:r>
            <a:endParaRPr lang="en-US" sz="3200" dirty="0"/>
          </a:p>
        </p:txBody>
      </p:sp>
      <p:sp>
        <p:nvSpPr>
          <p:cNvPr id="12" name="Text 9"/>
          <p:cNvSpPr txBox="1"/>
          <p:nvPr/>
        </p:nvSpPr>
        <p:spPr>
          <a:xfrm>
            <a:off x="2743200" y="4160520"/>
            <a:ext cx="1600200" cy="365760"/>
          </a:xfrm>
          <a:prstGeom prst="rect">
            <a:avLst/>
          </a:prstGeom>
          <a:noFill/>
          <a:ln/>
        </p:spPr>
        <p:txBody>
          <a:bodyPr wrap="square" lIns="0" tIns="0" rIns="0" bIns="0" rtlCol="0" anchor="ctr"/>
          <a:lstStyle/>
          <a:p>
            <a:pPr indent="0" marL="0">
              <a:buNone/>
            </a:pPr>
            <a:r>
              <a:rPr lang="en-US" sz="1100" dirty="0">
                <a:solidFill>
                  <a:srgbClr val="94A3B8"/>
                </a:solidFill>
              </a:rPr>
              <a:t>DAGs · ETL y reentrenamiento</a:t>
            </a:r>
            <a:endParaRPr lang="en-US" sz="1100" dirty="0"/>
          </a:p>
        </p:txBody>
      </p:sp>
      <p:sp>
        <p:nvSpPr>
          <p:cNvPr id="13" name="Tarjeta 3"/>
          <p:cNvSpPr/>
          <p:nvPr/>
        </p:nvSpPr>
        <p:spPr>
          <a:xfrm>
            <a:off x="4663440" y="3429000"/>
            <a:ext cx="1874520" cy="1234440"/>
          </a:xfrm>
          <a:prstGeom prst="roundRect">
            <a:avLst>
              <a:gd name="adj" fmla="val 5926"/>
            </a:avLst>
          </a:prstGeom>
          <a:solidFill>
            <a:srgbClr val="1C2B42"/>
          </a:solidFill>
          <a:ln w="12700">
            <a:solidFill>
              <a:srgbClr val="1C2B42"/>
            </a:solidFill>
            <a:prstDash val="solid"/>
          </a:ln>
        </p:spPr>
      </p:sp>
      <p:sp>
        <p:nvSpPr>
          <p:cNvPr id="14" name="Text 11"/>
          <p:cNvSpPr txBox="1"/>
          <p:nvPr/>
        </p:nvSpPr>
        <p:spPr>
          <a:xfrm>
            <a:off x="4846320" y="3547872"/>
            <a:ext cx="1554480" cy="594360"/>
          </a:xfrm>
          <a:prstGeom prst="rect">
            <a:avLst/>
          </a:prstGeom>
          <a:noFill/>
          <a:ln/>
        </p:spPr>
        <p:txBody>
          <a:bodyPr wrap="square" lIns="0" tIns="0" rIns="0" bIns="0" rtlCol="0" anchor="ctr"/>
          <a:lstStyle/>
          <a:p>
            <a:pPr indent="0" marL="0">
              <a:buNone/>
            </a:pPr>
            <a:r>
              <a:rPr lang="en-US" sz="3200" b="1" dirty="0">
                <a:solidFill>
                  <a:schemeClr val="accent1"/>
                </a:solidFill>
                <a:latin typeface="Arial" pitchFamily="34" charset="0"/>
                <a:ea typeface="Arial" pitchFamily="34" charset="-122"/>
                <a:cs typeface="Arial" pitchFamily="34" charset="-120"/>
              </a:rPr>
              <a:t>2</a:t>
            </a:r>
            <a:endParaRPr lang="en-US" sz="3200" dirty="0"/>
          </a:p>
        </p:txBody>
      </p:sp>
      <p:sp>
        <p:nvSpPr>
          <p:cNvPr id="15" name="Text 12"/>
          <p:cNvSpPr txBox="1"/>
          <p:nvPr/>
        </p:nvSpPr>
        <p:spPr>
          <a:xfrm>
            <a:off x="4846320" y="4160520"/>
            <a:ext cx="1600200" cy="365760"/>
          </a:xfrm>
          <a:prstGeom prst="rect">
            <a:avLst/>
          </a:prstGeom>
          <a:noFill/>
          <a:ln/>
        </p:spPr>
        <p:txBody>
          <a:bodyPr wrap="square" lIns="0" tIns="0" rIns="0" bIns="0" rtlCol="0" anchor="ctr"/>
          <a:lstStyle/>
          <a:p>
            <a:pPr indent="0" marL="0">
              <a:buNone/>
            </a:pPr>
            <a:r>
              <a:rPr lang="en-US" sz="1100" dirty="0">
                <a:solidFill>
                  <a:srgbClr val="94A3B8"/>
                </a:solidFill>
              </a:rPr>
              <a:t>capas integradas al stack</a:t>
            </a:r>
            <a:endParaRPr lang="en-US" sz="1100" dirty="0"/>
          </a:p>
        </p:txBody>
      </p:sp>
      <p:sp>
        <p:nvSpPr>
          <p:cNvPr id="16" name="Tarjeta 4"/>
          <p:cNvSpPr/>
          <p:nvPr/>
        </p:nvSpPr>
        <p:spPr>
          <a:xfrm>
            <a:off x="6766560" y="3429000"/>
            <a:ext cx="1874520" cy="1234440"/>
          </a:xfrm>
          <a:prstGeom prst="roundRect">
            <a:avLst>
              <a:gd name="adj" fmla="val 5926"/>
            </a:avLst>
          </a:prstGeom>
          <a:solidFill>
            <a:srgbClr val="1C2B42"/>
          </a:solidFill>
          <a:ln w="12700">
            <a:solidFill>
              <a:srgbClr val="1C2B42"/>
            </a:solidFill>
            <a:prstDash val="solid"/>
          </a:ln>
        </p:spPr>
      </p:sp>
      <p:sp>
        <p:nvSpPr>
          <p:cNvPr id="17" name="Text 14"/>
          <p:cNvSpPr txBox="1"/>
          <p:nvPr/>
        </p:nvSpPr>
        <p:spPr>
          <a:xfrm>
            <a:off x="6949440" y="3547872"/>
            <a:ext cx="1554480" cy="594360"/>
          </a:xfrm>
          <a:prstGeom prst="rect">
            <a:avLst/>
          </a:prstGeom>
          <a:noFill/>
          <a:ln/>
        </p:spPr>
        <p:txBody>
          <a:bodyPr wrap="square" lIns="0" tIns="0" rIns="0" bIns="0" rtlCol="0" anchor="ctr"/>
          <a:lstStyle/>
          <a:p>
            <a:pPr indent="0" marL="0">
              <a:buNone/>
            </a:pPr>
            <a:r>
              <a:rPr lang="en-US" sz="3200" b="1" dirty="0">
                <a:solidFill>
                  <a:schemeClr val="bg1"/>
                </a:solidFill>
                <a:latin typeface="Arial" pitchFamily="34" charset="0"/>
                <a:ea typeface="Arial" pitchFamily="34" charset="-122"/>
                <a:cs typeface="Arial" pitchFamily="34" charset="-120"/>
              </a:rPr>
              <a:t>1</a:t>
            </a:r>
            <a:endParaRPr lang="en-US" sz="3200" dirty="0"/>
          </a:p>
        </p:txBody>
      </p:sp>
      <p:sp>
        <p:nvSpPr>
          <p:cNvPr id="18" name="Text 15"/>
          <p:cNvSpPr txBox="1"/>
          <p:nvPr/>
        </p:nvSpPr>
        <p:spPr>
          <a:xfrm>
            <a:off x="6949440" y="4160520"/>
            <a:ext cx="1600200" cy="365760"/>
          </a:xfrm>
          <a:prstGeom prst="rect">
            <a:avLst/>
          </a:prstGeom>
          <a:noFill/>
          <a:ln/>
        </p:spPr>
        <p:txBody>
          <a:bodyPr wrap="square" lIns="0" tIns="0" rIns="0" bIns="0" rtlCol="0" anchor="ctr"/>
          <a:lstStyle/>
          <a:p>
            <a:pPr indent="0" marL="0">
              <a:buNone/>
            </a:pPr>
            <a:r>
              <a:rPr lang="en-US" sz="1100" dirty="0">
                <a:solidFill>
                  <a:srgbClr val="94A3B8"/>
                </a:solidFill>
              </a:rPr>
              <a:t>comando para levantar todo</a:t>
            </a:r>
            <a:endParaRPr lang="en-US" sz="1100" dirty="0"/>
          </a:p>
        </p:txBody>
      </p:sp>
      <p:sp>
        <p:nvSpPr>
          <p:cNvPr id="20" name="Text 0"/>
          <p:cNvSpPr/>
          <p:nvPr>
            <p:ph idx="100" type="title" hasCustomPrompt="1"/>
          </p:nvPr>
        </p:nvSpPr>
        <p:spPr>
          <a:xfrm>
            <a:off x="457200" y="365760"/>
            <a:ext cx="8229600" cy="640080"/>
          </a:xfrm>
          <a:prstGeom prst="rect">
            <a:avLst/>
          </a:prstGeom>
          <a:noFill/>
          <a:ln/>
        </p:spPr>
        <p:txBody>
          <a:bodyPr wrap="square" lIns="0" tIns="0" rIns="0" bIns="0" rtlCol="0" anchor="t"/>
          <a:lstStyle/>
          <a:p>
            <a:pPr algn="l" indent="0" marL="0">
              <a:buNone/>
            </a:pP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548640"/>
          </a:xfrm>
          <a:prstGeom prst="rect">
            <a:avLst/>
          </a:prstGeom>
          <a:noFill/>
          <a:ln/>
        </p:spPr>
        <p:txBody>
          <a:bodyPr wrap="square" lIns="0" tIns="0" rIns="0" bIns="0" rtlCol="0" anchor="t"/>
          <a:lstStyle/>
          <a:p>
            <a:pPr algn="l" indent="0" marL="0">
              <a:buNone/>
            </a:pPr>
            <a:r>
              <a:rPr lang="en-US" sz="2800" b="1" dirty="0">
                <a:solidFill>
                  <a:schemeClr val="tx1"/>
                </a:solidFill>
              </a:rPr>
              <a:t>Arquitectura: el stack y dos capas integradas</a:t>
            </a:r>
            <a:endParaRPr lang="en-US" sz="2800" dirty="0"/>
          </a:p>
        </p:txBody>
      </p:sp>
      <p:sp>
        <p:nvSpPr>
          <p:cNvPr id="3" name="Text 1"/>
          <p:cNvSpPr txBox="1"/>
          <p:nvPr/>
        </p:nvSpPr>
        <p:spPr>
          <a:xfrm>
            <a:off x="457200" y="1005840"/>
            <a:ext cx="5303520" cy="228600"/>
          </a:xfrm>
          <a:prstGeom prst="rect">
            <a:avLst/>
          </a:prstGeom>
          <a:noFill/>
          <a:ln/>
        </p:spPr>
        <p:txBody>
          <a:bodyPr wrap="square" lIns="0" tIns="0" rIns="0" bIns="0" rtlCol="0" anchor="ctr"/>
          <a:lstStyle/>
          <a:p>
            <a:pPr indent="0" marL="0">
              <a:buNone/>
            </a:pPr>
            <a:r>
              <a:rPr lang="en-US" sz="1000" b="1" spc="100" kern="0" dirty="0">
                <a:solidFill>
                  <a:schemeClr val="tx2"/>
                </a:solidFill>
              </a:rPr>
              <a:t>STACK DOCKER · ORQUESTACIÓN + CICLO DE VIDA</a:t>
            </a:r>
            <a:endParaRPr lang="en-US" sz="1000" dirty="0"/>
          </a:p>
        </p:txBody>
      </p:sp>
      <p:sp>
        <p:nvSpPr>
          <p:cNvPr id="4" name="Dataset"/>
          <p:cNvSpPr/>
          <p:nvPr/>
        </p:nvSpPr>
        <p:spPr>
          <a:xfrm>
            <a:off x="457200" y="1371600"/>
            <a:ext cx="1508760" cy="777240"/>
          </a:xfrm>
          <a:prstGeom prst="roundRect">
            <a:avLst>
              <a:gd name="adj" fmla="val 9412"/>
            </a:avLst>
          </a:prstGeom>
          <a:solidFill>
            <a:srgbClr val="64748B"/>
          </a:solidFill>
          <a:ln w="12700">
            <a:solidFill>
              <a:srgbClr val="64748B"/>
            </a:solidFill>
            <a:prstDash val="solid"/>
          </a:ln>
          <a:effectLst>
            <a:outerShdw sx="100000" sy="100000" kx="0" ky="0" algn="bl" rotWithShape="0" blurRad="76200" dist="25400" dir="5400000">
              <a:srgbClr val="0F1B2D">
                <a:alpha val="12000"/>
              </a:srgbClr>
            </a:outerShdw>
          </a:effectLst>
        </p:spPr>
      </p:sp>
      <p:sp>
        <p:nvSpPr>
          <p:cNvPr id="5" name="Text 3"/>
          <p:cNvSpPr txBox="1"/>
          <p:nvPr/>
        </p:nvSpPr>
        <p:spPr>
          <a:xfrm>
            <a:off x="457200" y="1371600"/>
            <a:ext cx="1508760" cy="777240"/>
          </a:xfrm>
          <a:prstGeom prst="rect">
            <a:avLst/>
          </a:prstGeom>
          <a:noFill/>
          <a:ln/>
        </p:spPr>
        <p:txBody>
          <a:bodyPr wrap="square" lIns="508" tIns="508" rIns="508" bIns="508" rtlCol="0" anchor="ctr"/>
          <a:lstStyle/>
          <a:p>
            <a:pPr algn="ctr" indent="0" marL="0">
              <a:buNone/>
            </a:pPr>
            <a:r>
              <a:rPr lang="en-US" sz="1400" b="1" dirty="0">
                <a:solidFill>
                  <a:schemeClr val="bg1"/>
                </a:solidFill>
              </a:rPr>
              <a:t>Dataset</a:t>
            </a:r>
            <a:endParaRPr lang="en-US" sz="1400" dirty="0"/>
          </a:p>
          <a:p>
            <a:pPr algn="ctr" indent="0" marL="0">
              <a:buNone/>
            </a:pPr>
            <a:r>
              <a:rPr lang="en-US" sz="1000" dirty="0">
                <a:solidFill>
                  <a:schemeClr val="bg1"/>
                </a:solidFill>
              </a:rPr>
              <a:t>Kaggle</a:t>
            </a:r>
            <a:endParaRPr lang="en-US" sz="1400" dirty="0"/>
          </a:p>
        </p:txBody>
      </p:sp>
      <p:sp>
        <p:nvSpPr>
          <p:cNvPr id="6" name="Airflow"/>
          <p:cNvSpPr/>
          <p:nvPr/>
        </p:nvSpPr>
        <p:spPr>
          <a:xfrm>
            <a:off x="2331720" y="1371600"/>
            <a:ext cx="1508760" cy="777240"/>
          </a:xfrm>
          <a:prstGeom prst="roundRect">
            <a:avLst>
              <a:gd name="adj" fmla="val 9412"/>
            </a:avLst>
          </a:prstGeom>
          <a:solidFill>
            <a:srgbClr val="3D5A80"/>
          </a:solidFill>
          <a:ln w="12700">
            <a:solidFill>
              <a:srgbClr val="3D5A80"/>
            </a:solidFill>
            <a:prstDash val="solid"/>
          </a:ln>
          <a:effectLst>
            <a:outerShdw sx="100000" sy="100000" kx="0" ky="0" algn="bl" rotWithShape="0" blurRad="76200" dist="25400" dir="5400000">
              <a:srgbClr val="0F1B2D">
                <a:alpha val="12000"/>
              </a:srgbClr>
            </a:outerShdw>
          </a:effectLst>
        </p:spPr>
      </p:sp>
      <p:sp>
        <p:nvSpPr>
          <p:cNvPr id="7" name="Text 5"/>
          <p:cNvSpPr txBox="1"/>
          <p:nvPr/>
        </p:nvSpPr>
        <p:spPr>
          <a:xfrm>
            <a:off x="2331720" y="1371600"/>
            <a:ext cx="1508760" cy="777240"/>
          </a:xfrm>
          <a:prstGeom prst="rect">
            <a:avLst/>
          </a:prstGeom>
          <a:noFill/>
          <a:ln/>
        </p:spPr>
        <p:txBody>
          <a:bodyPr wrap="square" lIns="508" tIns="508" rIns="508" bIns="508" rtlCol="0" anchor="ctr"/>
          <a:lstStyle/>
          <a:p>
            <a:pPr algn="ctr" indent="0" marL="0">
              <a:buNone/>
            </a:pPr>
            <a:r>
              <a:rPr lang="en-US" sz="1400" b="1" dirty="0">
                <a:solidFill>
                  <a:schemeClr val="bg1"/>
                </a:solidFill>
              </a:rPr>
              <a:t>Airflow</a:t>
            </a:r>
            <a:endParaRPr lang="en-US" sz="1400" dirty="0"/>
          </a:p>
          <a:p>
            <a:pPr algn="ctr" indent="0" marL="0">
              <a:buNone/>
            </a:pPr>
            <a:r>
              <a:rPr lang="en-US" sz="1000" dirty="0">
                <a:solidFill>
                  <a:schemeClr val="bg1"/>
                </a:solidFill>
              </a:rPr>
              <a:t>ETL + reentreno</a:t>
            </a:r>
            <a:endParaRPr lang="en-US" sz="1400" dirty="0"/>
          </a:p>
        </p:txBody>
      </p:sp>
      <p:sp>
        <p:nvSpPr>
          <p:cNvPr id="8" name="MinIO"/>
          <p:cNvSpPr/>
          <p:nvPr/>
        </p:nvSpPr>
        <p:spPr>
          <a:xfrm>
            <a:off x="4206240" y="1371600"/>
            <a:ext cx="1508760" cy="777240"/>
          </a:xfrm>
          <a:prstGeom prst="roundRect">
            <a:avLst>
              <a:gd name="adj" fmla="val 9412"/>
            </a:avLst>
          </a:prstGeom>
          <a:solidFill>
            <a:srgbClr val="C77D12"/>
          </a:solidFill>
          <a:ln w="12700">
            <a:solidFill>
              <a:srgbClr val="C77D12"/>
            </a:solidFill>
            <a:prstDash val="solid"/>
          </a:ln>
          <a:effectLst>
            <a:outerShdw sx="100000" sy="100000" kx="0" ky="0" algn="bl" rotWithShape="0" blurRad="76200" dist="25400" dir="5400000">
              <a:srgbClr val="0F1B2D">
                <a:alpha val="12000"/>
              </a:srgbClr>
            </a:outerShdw>
          </a:effectLst>
        </p:spPr>
      </p:sp>
      <p:sp>
        <p:nvSpPr>
          <p:cNvPr id="9" name="Text 7"/>
          <p:cNvSpPr txBox="1"/>
          <p:nvPr/>
        </p:nvSpPr>
        <p:spPr>
          <a:xfrm>
            <a:off x="4206240" y="1371600"/>
            <a:ext cx="1508760" cy="777240"/>
          </a:xfrm>
          <a:prstGeom prst="rect">
            <a:avLst/>
          </a:prstGeom>
          <a:noFill/>
          <a:ln/>
        </p:spPr>
        <p:txBody>
          <a:bodyPr wrap="square" lIns="508" tIns="508" rIns="508" bIns="508" rtlCol="0" anchor="ctr"/>
          <a:lstStyle/>
          <a:p>
            <a:pPr algn="ctr" indent="0" marL="0">
              <a:buNone/>
            </a:pPr>
            <a:r>
              <a:rPr lang="en-US" sz="1400" b="1" dirty="0">
                <a:solidFill>
                  <a:schemeClr val="bg1"/>
                </a:solidFill>
              </a:rPr>
              <a:t>MinIO (S3)</a:t>
            </a:r>
            <a:endParaRPr lang="en-US" sz="1400" dirty="0"/>
          </a:p>
          <a:p>
            <a:pPr algn="ctr" indent="0" marL="0">
              <a:buNone/>
            </a:pPr>
            <a:r>
              <a:rPr lang="en-US" sz="1000" dirty="0">
                <a:solidFill>
                  <a:schemeClr val="bg1"/>
                </a:solidFill>
              </a:rPr>
              <a:t>raw · final · models</a:t>
            </a:r>
            <a:endParaRPr lang="en-US" sz="1400" dirty="0"/>
          </a:p>
        </p:txBody>
      </p:sp>
      <p:sp>
        <p:nvSpPr>
          <p:cNvPr id="10" name="MLflow"/>
          <p:cNvSpPr/>
          <p:nvPr/>
        </p:nvSpPr>
        <p:spPr>
          <a:xfrm>
            <a:off x="2331720" y="2514600"/>
            <a:ext cx="1508760" cy="777240"/>
          </a:xfrm>
          <a:prstGeom prst="roundRect">
            <a:avLst>
              <a:gd name="adj" fmla="val 9412"/>
            </a:avLst>
          </a:prstGeom>
          <a:solidFill>
            <a:srgbClr val="2A9D8F"/>
          </a:solidFill>
          <a:ln w="12700">
            <a:solidFill>
              <a:srgbClr val="2A9D8F"/>
            </a:solidFill>
            <a:prstDash val="solid"/>
          </a:ln>
          <a:effectLst>
            <a:outerShdw sx="100000" sy="100000" kx="0" ky="0" algn="bl" rotWithShape="0" blurRad="76200" dist="25400" dir="5400000">
              <a:srgbClr val="0F1B2D">
                <a:alpha val="12000"/>
              </a:srgbClr>
            </a:outerShdw>
          </a:effectLst>
        </p:spPr>
      </p:sp>
      <p:sp>
        <p:nvSpPr>
          <p:cNvPr id="11" name="Text 9"/>
          <p:cNvSpPr txBox="1"/>
          <p:nvPr/>
        </p:nvSpPr>
        <p:spPr>
          <a:xfrm>
            <a:off x="2331720" y="2514600"/>
            <a:ext cx="1508760" cy="777240"/>
          </a:xfrm>
          <a:prstGeom prst="rect">
            <a:avLst/>
          </a:prstGeom>
          <a:noFill/>
          <a:ln/>
        </p:spPr>
        <p:txBody>
          <a:bodyPr wrap="square" lIns="508" tIns="508" rIns="508" bIns="508" rtlCol="0" anchor="ctr"/>
          <a:lstStyle/>
          <a:p>
            <a:pPr algn="ctr" indent="0" marL="0">
              <a:buNone/>
            </a:pPr>
            <a:r>
              <a:rPr lang="en-US" sz="1400" b="1" dirty="0">
                <a:solidFill>
                  <a:schemeClr val="bg1"/>
                </a:solidFill>
              </a:rPr>
              <a:t>MLflow</a:t>
            </a:r>
            <a:endParaRPr lang="en-US" sz="1400" dirty="0"/>
          </a:p>
          <a:p>
            <a:pPr algn="ctr" indent="0" marL="0">
              <a:buNone/>
            </a:pPr>
            <a:r>
              <a:rPr lang="en-US" sz="1000" dirty="0">
                <a:solidFill>
                  <a:schemeClr val="bg1"/>
                </a:solidFill>
              </a:rPr>
              <a:t>registry · champion</a:t>
            </a:r>
            <a:endParaRPr lang="en-US" sz="1400" dirty="0"/>
          </a:p>
        </p:txBody>
      </p:sp>
      <p:sp>
        <p:nvSpPr>
          <p:cNvPr id="12" name="FastAPI"/>
          <p:cNvSpPr/>
          <p:nvPr/>
        </p:nvSpPr>
        <p:spPr>
          <a:xfrm>
            <a:off x="4206240" y="2514600"/>
            <a:ext cx="1508760" cy="777240"/>
          </a:xfrm>
          <a:prstGeom prst="roundRect">
            <a:avLst>
              <a:gd name="adj" fmla="val 9412"/>
            </a:avLst>
          </a:prstGeom>
          <a:solidFill>
            <a:srgbClr val="1F3A5F"/>
          </a:solidFill>
          <a:ln w="12700">
            <a:solidFill>
              <a:srgbClr val="1F3A5F"/>
            </a:solidFill>
            <a:prstDash val="solid"/>
          </a:ln>
          <a:effectLst>
            <a:outerShdw sx="100000" sy="100000" kx="0" ky="0" algn="bl" rotWithShape="0" blurRad="76200" dist="25400" dir="5400000">
              <a:srgbClr val="0F1B2D">
                <a:alpha val="12000"/>
              </a:srgbClr>
            </a:outerShdw>
          </a:effectLst>
        </p:spPr>
      </p:sp>
      <p:sp>
        <p:nvSpPr>
          <p:cNvPr id="13" name="Text 11"/>
          <p:cNvSpPr txBox="1"/>
          <p:nvPr/>
        </p:nvSpPr>
        <p:spPr>
          <a:xfrm>
            <a:off x="4206240" y="2514600"/>
            <a:ext cx="1508760" cy="777240"/>
          </a:xfrm>
          <a:prstGeom prst="rect">
            <a:avLst/>
          </a:prstGeom>
          <a:noFill/>
          <a:ln/>
        </p:spPr>
        <p:txBody>
          <a:bodyPr wrap="square" lIns="508" tIns="508" rIns="508" bIns="508" rtlCol="0" anchor="ctr"/>
          <a:lstStyle/>
          <a:p>
            <a:pPr algn="ctr" indent="0" marL="0">
              <a:buNone/>
            </a:pPr>
            <a:r>
              <a:rPr lang="en-US" sz="1400" b="1" dirty="0">
                <a:solidFill>
                  <a:schemeClr val="bg1"/>
                </a:solidFill>
              </a:rPr>
              <a:t>FastAPI</a:t>
            </a:r>
            <a:endParaRPr lang="en-US" sz="1400" dirty="0"/>
          </a:p>
          <a:p>
            <a:pPr algn="ctr" indent="0" marL="0">
              <a:buNone/>
            </a:pPr>
            <a:r>
              <a:rPr lang="en-US" sz="1000" dirty="0">
                <a:solidFill>
                  <a:schemeClr val="bg1"/>
                </a:solidFill>
              </a:rPr>
              <a:t>sirve el champion</a:t>
            </a:r>
            <a:endParaRPr lang="en-US" sz="1400" dirty="0"/>
          </a:p>
        </p:txBody>
      </p:sp>
      <p:sp>
        <p:nvSpPr>
          <p:cNvPr id="14" name="Shape 12"/>
          <p:cNvSpPr/>
          <p:nvPr/>
        </p:nvSpPr>
        <p:spPr>
          <a:xfrm>
            <a:off x="1965960" y="1760220"/>
            <a:ext cx="365760" cy="0"/>
          </a:xfrm>
          <a:prstGeom prst="line">
            <a:avLst/>
          </a:prstGeom>
          <a:noFill/>
          <a:ln w="19050">
            <a:solidFill>
              <a:srgbClr val="4A5568"/>
            </a:solidFill>
            <a:prstDash val="solid"/>
            <a:tailEnd type="triangle"/>
          </a:ln>
        </p:spPr>
      </p:sp>
      <p:sp>
        <p:nvSpPr>
          <p:cNvPr id="15" name="Shape 13"/>
          <p:cNvSpPr/>
          <p:nvPr/>
        </p:nvSpPr>
        <p:spPr>
          <a:xfrm>
            <a:off x="3840480" y="1760220"/>
            <a:ext cx="365760" cy="0"/>
          </a:xfrm>
          <a:prstGeom prst="line">
            <a:avLst/>
          </a:prstGeom>
          <a:noFill/>
          <a:ln w="19050">
            <a:solidFill>
              <a:srgbClr val="4A5568"/>
            </a:solidFill>
            <a:prstDash val="solid"/>
            <a:tailEnd type="triangle"/>
          </a:ln>
        </p:spPr>
      </p:sp>
      <p:sp>
        <p:nvSpPr>
          <p:cNvPr id="16" name="Shape 14"/>
          <p:cNvSpPr/>
          <p:nvPr/>
        </p:nvSpPr>
        <p:spPr>
          <a:xfrm>
            <a:off x="3086100" y="2148840"/>
            <a:ext cx="0" cy="365760"/>
          </a:xfrm>
          <a:prstGeom prst="line">
            <a:avLst/>
          </a:prstGeom>
          <a:noFill/>
          <a:ln w="19050">
            <a:solidFill>
              <a:srgbClr val="4A5568"/>
            </a:solidFill>
            <a:prstDash val="solid"/>
            <a:tailEnd type="triangle"/>
          </a:ln>
        </p:spPr>
      </p:sp>
      <p:sp>
        <p:nvSpPr>
          <p:cNvPr id="17" name="Shape 15"/>
          <p:cNvSpPr/>
          <p:nvPr/>
        </p:nvSpPr>
        <p:spPr>
          <a:xfrm>
            <a:off x="3840480" y="2903220"/>
            <a:ext cx="365760" cy="0"/>
          </a:xfrm>
          <a:prstGeom prst="line">
            <a:avLst/>
          </a:prstGeom>
          <a:noFill/>
          <a:ln w="19050">
            <a:solidFill>
              <a:srgbClr val="4A5568"/>
            </a:solidFill>
            <a:prstDash val="solid"/>
            <a:tailEnd type="triangle"/>
          </a:ln>
        </p:spPr>
      </p:sp>
      <p:sp>
        <p:nvSpPr>
          <p:cNvPr id="18" name="Text 16"/>
          <p:cNvSpPr txBox="1"/>
          <p:nvPr/>
        </p:nvSpPr>
        <p:spPr>
          <a:xfrm>
            <a:off x="457200" y="3429000"/>
            <a:ext cx="5257800" cy="502920"/>
          </a:xfrm>
          <a:prstGeom prst="rect">
            <a:avLst/>
          </a:prstGeom>
          <a:noFill/>
          <a:ln/>
        </p:spPr>
        <p:txBody>
          <a:bodyPr wrap="square" lIns="0" tIns="0" rIns="0" bIns="0" rtlCol="0" anchor="ctr"/>
          <a:lstStyle/>
          <a:p>
            <a:pPr indent="0" marL="0">
              <a:buNone/>
            </a:pPr>
            <a:r>
              <a:rPr lang="en-US" sz="1200" b="1" dirty="0">
                <a:solidFill>
                  <a:schemeClr val="tx2"/>
                </a:solidFill>
              </a:rPr>
              <a:t>Champion / challenger: </a:t>
            </a:r>
            <a:pPr indent="0" marL="0">
              <a:buNone/>
            </a:pPr>
            <a:r>
              <a:rPr lang="en-US" sz="1200" dirty="0">
                <a:solidFill>
                  <a:schemeClr val="tx2"/>
                </a:solidFill>
              </a:rPr>
              <a:t>el modelo nuevo se promueve solo si mejora el F1. Rollback = mover el alias, sin reiniciar la API.</a:t>
            </a:r>
            <a:endParaRPr lang="en-US" sz="1200" dirty="0"/>
          </a:p>
        </p:txBody>
      </p:sp>
      <p:sp>
        <p:nvSpPr>
          <p:cNvPr id="19" name="Text 17"/>
          <p:cNvSpPr txBox="1"/>
          <p:nvPr/>
        </p:nvSpPr>
        <p:spPr>
          <a:xfrm>
            <a:off x="6172200" y="1005840"/>
            <a:ext cx="2514600" cy="228600"/>
          </a:xfrm>
          <a:prstGeom prst="rect">
            <a:avLst/>
          </a:prstGeom>
          <a:noFill/>
          <a:ln/>
        </p:spPr>
        <p:txBody>
          <a:bodyPr wrap="square" lIns="0" tIns="0" rIns="0" bIns="0" rtlCol="0" anchor="ctr"/>
          <a:lstStyle/>
          <a:p>
            <a:pPr indent="0" marL="0">
              <a:buNone/>
            </a:pPr>
            <a:r>
              <a:rPr lang="en-US" sz="1000" b="1" spc="100" kern="0" dirty="0">
                <a:solidFill>
                  <a:schemeClr val="accent1"/>
                </a:solidFill>
              </a:rPr>
              <a:t>INTEGRADAS AL STACK</a:t>
            </a:r>
            <a:endParaRPr lang="en-US" sz="1000" dirty="0"/>
          </a:p>
        </p:txBody>
      </p:sp>
      <p:sp>
        <p:nvSpPr>
          <p:cNvPr id="20" name="Capa TP1+TP7"/>
          <p:cNvSpPr/>
          <p:nvPr/>
        </p:nvSpPr>
        <p:spPr>
          <a:xfrm>
            <a:off x="6172200" y="1325880"/>
            <a:ext cx="2514600" cy="457200"/>
          </a:xfrm>
          <a:prstGeom prst="roundRect">
            <a:avLst>
              <a:gd name="adj" fmla="val 16000"/>
            </a:avLst>
          </a:prstGeom>
          <a:solidFill>
            <a:srgbClr val="FCE8E2"/>
          </a:solidFill>
          <a:ln w="12700">
            <a:solidFill>
              <a:srgbClr val="FCE8E2"/>
            </a:solidFill>
            <a:prstDash val="solid"/>
          </a:ln>
        </p:spPr>
      </p:sp>
      <p:sp>
        <p:nvSpPr>
          <p:cNvPr id="21" name="Shape 19"/>
          <p:cNvSpPr/>
          <p:nvPr/>
        </p:nvSpPr>
        <p:spPr>
          <a:xfrm>
            <a:off x="6263640" y="1408176"/>
            <a:ext cx="685800" cy="292608"/>
          </a:xfrm>
          <a:prstGeom prst="roundRect">
            <a:avLst>
              <a:gd name="adj" fmla="val 18750"/>
            </a:avLst>
          </a:prstGeom>
          <a:solidFill>
            <a:srgbClr val="E4572E"/>
          </a:solidFill>
          <a:ln w="12700">
            <a:solidFill>
              <a:srgbClr val="E4572E"/>
            </a:solidFill>
            <a:prstDash val="solid"/>
          </a:ln>
        </p:spPr>
      </p:sp>
      <p:sp>
        <p:nvSpPr>
          <p:cNvPr id="22" name="Text 20"/>
          <p:cNvSpPr txBox="1"/>
          <p:nvPr/>
        </p:nvSpPr>
        <p:spPr>
          <a:xfrm>
            <a:off x="6263640" y="1408176"/>
            <a:ext cx="685800" cy="292608"/>
          </a:xfrm>
          <a:prstGeom prst="rect">
            <a:avLst/>
          </a:prstGeom>
          <a:noFill/>
          <a:ln/>
        </p:spPr>
        <p:txBody>
          <a:bodyPr wrap="square" lIns="0" tIns="0" rIns="0" bIns="0" rtlCol="0" anchor="ctr"/>
          <a:lstStyle/>
          <a:p>
            <a:pPr algn="ctr" indent="0" marL="0">
              <a:buNone/>
            </a:pPr>
            <a:r>
              <a:rPr lang="en-US" sz="900" b="1" dirty="0">
                <a:solidFill>
                  <a:schemeClr val="bg1"/>
                </a:solidFill>
              </a:rPr>
              <a:t>TP1+TP7</a:t>
            </a:r>
            <a:endParaRPr lang="en-US" sz="900" dirty="0"/>
          </a:p>
        </p:txBody>
      </p:sp>
      <p:sp>
        <p:nvSpPr>
          <p:cNvPr id="23" name="Text 21"/>
          <p:cNvSpPr txBox="1"/>
          <p:nvPr/>
        </p:nvSpPr>
        <p:spPr>
          <a:xfrm>
            <a:off x="7040880" y="1325880"/>
            <a:ext cx="1600200" cy="457200"/>
          </a:xfrm>
          <a:prstGeom prst="rect">
            <a:avLst/>
          </a:prstGeom>
          <a:noFill/>
          <a:ln/>
        </p:spPr>
        <p:txBody>
          <a:bodyPr wrap="square" lIns="0" tIns="0" rIns="0" bIns="0" rtlCol="0" anchor="ctr"/>
          <a:lstStyle/>
          <a:p>
            <a:pPr indent="0" marL="0">
              <a:buNone/>
            </a:pPr>
            <a:r>
              <a:rPr lang="en-US" sz="1200" b="1" dirty="0">
                <a:solidFill>
                  <a:schemeClr val="tx1"/>
                </a:solidFill>
              </a:rPr>
              <a:t>API REST segura</a:t>
            </a:r>
            <a:endParaRPr lang="en-US" sz="1200" dirty="0"/>
          </a:p>
        </p:txBody>
      </p:sp>
      <p:sp>
        <p:nvSpPr>
          <p:cNvPr id="24" name="Capa TP6"/>
          <p:cNvSpPr/>
          <p:nvPr/>
        </p:nvSpPr>
        <p:spPr>
          <a:xfrm>
            <a:off x="6172200" y="1856232"/>
            <a:ext cx="2514600" cy="457200"/>
          </a:xfrm>
          <a:prstGeom prst="roundRect">
            <a:avLst>
              <a:gd name="adj" fmla="val 16000"/>
            </a:avLst>
          </a:prstGeom>
          <a:solidFill>
            <a:srgbClr val="FCE8E2"/>
          </a:solidFill>
          <a:ln w="12700">
            <a:solidFill>
              <a:srgbClr val="FCE8E2"/>
            </a:solidFill>
            <a:prstDash val="solid"/>
          </a:ln>
        </p:spPr>
      </p:sp>
      <p:sp>
        <p:nvSpPr>
          <p:cNvPr id="25" name="Shape 23"/>
          <p:cNvSpPr/>
          <p:nvPr/>
        </p:nvSpPr>
        <p:spPr>
          <a:xfrm>
            <a:off x="6263640" y="1938528"/>
            <a:ext cx="685800" cy="292608"/>
          </a:xfrm>
          <a:prstGeom prst="roundRect">
            <a:avLst>
              <a:gd name="adj" fmla="val 18750"/>
            </a:avLst>
          </a:prstGeom>
          <a:solidFill>
            <a:srgbClr val="C77D12"/>
          </a:solidFill>
          <a:ln w="12700">
            <a:solidFill>
              <a:srgbClr val="C77D12"/>
            </a:solidFill>
            <a:prstDash val="solid"/>
          </a:ln>
        </p:spPr>
      </p:sp>
      <p:sp>
        <p:nvSpPr>
          <p:cNvPr id="26" name="Text 24"/>
          <p:cNvSpPr txBox="1"/>
          <p:nvPr/>
        </p:nvSpPr>
        <p:spPr>
          <a:xfrm>
            <a:off x="6263640" y="1938528"/>
            <a:ext cx="685800" cy="292608"/>
          </a:xfrm>
          <a:prstGeom prst="rect">
            <a:avLst/>
          </a:prstGeom>
          <a:noFill/>
          <a:ln/>
        </p:spPr>
        <p:txBody>
          <a:bodyPr wrap="square" lIns="0" tIns="0" rIns="0" bIns="0" rtlCol="0" anchor="ctr"/>
          <a:lstStyle/>
          <a:p>
            <a:pPr algn="ctr" indent="0" marL="0">
              <a:buNone/>
            </a:pPr>
            <a:r>
              <a:rPr lang="en-US" sz="900" b="1" dirty="0">
                <a:solidFill>
                  <a:schemeClr val="bg1"/>
                </a:solidFill>
              </a:rPr>
              <a:t>TP6</a:t>
            </a:r>
            <a:endParaRPr lang="en-US" sz="900" dirty="0"/>
          </a:p>
        </p:txBody>
      </p:sp>
      <p:sp>
        <p:nvSpPr>
          <p:cNvPr id="27" name="Text 25"/>
          <p:cNvSpPr txBox="1"/>
          <p:nvPr/>
        </p:nvSpPr>
        <p:spPr>
          <a:xfrm>
            <a:off x="7040880" y="1856232"/>
            <a:ext cx="1600200" cy="457200"/>
          </a:xfrm>
          <a:prstGeom prst="rect">
            <a:avLst/>
          </a:prstGeom>
          <a:noFill/>
          <a:ln/>
        </p:spPr>
        <p:txBody>
          <a:bodyPr wrap="square" lIns="0" tIns="0" rIns="0" bIns="0" rtlCol="0" anchor="ctr"/>
          <a:lstStyle/>
          <a:p>
            <a:pPr indent="0" marL="0">
              <a:buNone/>
            </a:pPr>
            <a:r>
              <a:rPr lang="en-US" sz="1200" b="1" dirty="0">
                <a:solidFill>
                  <a:schemeClr val="tx1"/>
                </a:solidFill>
              </a:rPr>
              <a:t>Data lake versionado</a:t>
            </a:r>
            <a:endParaRPr lang="en-US" sz="1200" dirty="0"/>
          </a:p>
        </p:txBody>
      </p:sp>
      <p:sp>
        <p:nvSpPr>
          <p:cNvPr id="28" name="Text 26"/>
          <p:cNvSpPr txBox="1"/>
          <p:nvPr/>
        </p:nvSpPr>
        <p:spPr>
          <a:xfrm>
            <a:off x="6172200" y="2514600"/>
            <a:ext cx="2514600" cy="228600"/>
          </a:xfrm>
          <a:prstGeom prst="rect">
            <a:avLst/>
          </a:prstGeom>
          <a:noFill/>
          <a:ln/>
        </p:spPr>
        <p:txBody>
          <a:bodyPr wrap="square" lIns="0" tIns="0" rIns="0" bIns="0" rtlCol="0" anchor="ctr"/>
          <a:lstStyle/>
          <a:p>
            <a:pPr indent="0" marL="0">
              <a:buNone/>
            </a:pPr>
            <a:r>
              <a:rPr lang="en-US" sz="1000" b="1" spc="100" kern="0" dirty="0">
                <a:solidFill>
                  <a:schemeClr val="tx2"/>
                </a:solidFill>
              </a:rPr>
              <a:t>EXPLORADAS PARA COMPARAR</a:t>
            </a:r>
            <a:endParaRPr lang="en-US" sz="1000" dirty="0"/>
          </a:p>
        </p:txBody>
      </p:sp>
      <p:sp>
        <p:nvSpPr>
          <p:cNvPr id="29" name="Capa TP2–3"/>
          <p:cNvSpPr/>
          <p:nvPr/>
        </p:nvSpPr>
        <p:spPr>
          <a:xfrm>
            <a:off x="6172200" y="2834640"/>
            <a:ext cx="2514600" cy="457200"/>
          </a:xfrm>
          <a:prstGeom prst="roundRect">
            <a:avLst>
              <a:gd name="adj" fmla="val 16000"/>
            </a:avLst>
          </a:prstGeom>
          <a:solidFill>
            <a:srgbClr val="EEF2F7"/>
          </a:solidFill>
          <a:ln w="12700">
            <a:solidFill>
              <a:srgbClr val="EEF2F7"/>
            </a:solidFill>
            <a:prstDash val="solid"/>
          </a:ln>
        </p:spPr>
      </p:sp>
      <p:sp>
        <p:nvSpPr>
          <p:cNvPr id="30" name="Shape 28"/>
          <p:cNvSpPr/>
          <p:nvPr/>
        </p:nvSpPr>
        <p:spPr>
          <a:xfrm>
            <a:off x="6263640" y="2916936"/>
            <a:ext cx="685800" cy="292608"/>
          </a:xfrm>
          <a:prstGeom prst="roundRect">
            <a:avLst>
              <a:gd name="adj" fmla="val 18750"/>
            </a:avLst>
          </a:prstGeom>
          <a:solidFill>
            <a:srgbClr val="94A3B8"/>
          </a:solidFill>
          <a:ln w="12700">
            <a:solidFill>
              <a:srgbClr val="94A3B8"/>
            </a:solidFill>
            <a:prstDash val="solid"/>
          </a:ln>
        </p:spPr>
      </p:sp>
      <p:sp>
        <p:nvSpPr>
          <p:cNvPr id="31" name="Text 29"/>
          <p:cNvSpPr txBox="1"/>
          <p:nvPr/>
        </p:nvSpPr>
        <p:spPr>
          <a:xfrm>
            <a:off x="6263640" y="2916936"/>
            <a:ext cx="685800" cy="292608"/>
          </a:xfrm>
          <a:prstGeom prst="rect">
            <a:avLst/>
          </a:prstGeom>
          <a:noFill/>
          <a:ln/>
        </p:spPr>
        <p:txBody>
          <a:bodyPr wrap="square" lIns="0" tIns="0" rIns="0" bIns="0" rtlCol="0" anchor="ctr"/>
          <a:lstStyle/>
          <a:p>
            <a:pPr algn="ctr" indent="0" marL="0">
              <a:buNone/>
            </a:pPr>
            <a:r>
              <a:rPr lang="en-US" sz="900" b="1" dirty="0">
                <a:solidFill>
                  <a:schemeClr val="bg1"/>
                </a:solidFill>
              </a:rPr>
              <a:t>TP2–3</a:t>
            </a:r>
            <a:endParaRPr lang="en-US" sz="900" dirty="0"/>
          </a:p>
        </p:txBody>
      </p:sp>
      <p:sp>
        <p:nvSpPr>
          <p:cNvPr id="32" name="Text 30"/>
          <p:cNvSpPr txBox="1"/>
          <p:nvPr/>
        </p:nvSpPr>
        <p:spPr>
          <a:xfrm>
            <a:off x="7040880" y="2834640"/>
            <a:ext cx="1600200" cy="457200"/>
          </a:xfrm>
          <a:prstGeom prst="rect">
            <a:avLst/>
          </a:prstGeom>
          <a:noFill/>
          <a:ln/>
        </p:spPr>
        <p:txBody>
          <a:bodyPr wrap="square" lIns="0" tIns="0" rIns="0" bIns="0" rtlCol="0" anchor="ctr"/>
          <a:lstStyle/>
          <a:p>
            <a:pPr indent="0" marL="0">
              <a:buNone/>
            </a:pPr>
            <a:r>
              <a:rPr lang="en-US" sz="1200" b="1" dirty="0">
                <a:solidFill>
                  <a:schemeClr val="tx2"/>
                </a:solidFill>
              </a:rPr>
              <a:t>GraphQL · gRPC</a:t>
            </a:r>
            <a:endParaRPr lang="en-US" sz="1200" dirty="0"/>
          </a:p>
        </p:txBody>
      </p:sp>
      <p:sp>
        <p:nvSpPr>
          <p:cNvPr id="33" name="Capa TP4"/>
          <p:cNvSpPr/>
          <p:nvPr/>
        </p:nvSpPr>
        <p:spPr>
          <a:xfrm>
            <a:off x="6172200" y="3364992"/>
            <a:ext cx="2514600" cy="457200"/>
          </a:xfrm>
          <a:prstGeom prst="roundRect">
            <a:avLst>
              <a:gd name="adj" fmla="val 16000"/>
            </a:avLst>
          </a:prstGeom>
          <a:solidFill>
            <a:srgbClr val="EEF2F7"/>
          </a:solidFill>
          <a:ln w="12700">
            <a:solidFill>
              <a:srgbClr val="EEF2F7"/>
            </a:solidFill>
            <a:prstDash val="solid"/>
          </a:ln>
        </p:spPr>
      </p:sp>
      <p:sp>
        <p:nvSpPr>
          <p:cNvPr id="34" name="Shape 32"/>
          <p:cNvSpPr/>
          <p:nvPr/>
        </p:nvSpPr>
        <p:spPr>
          <a:xfrm>
            <a:off x="6263640" y="3447288"/>
            <a:ext cx="685800" cy="292608"/>
          </a:xfrm>
          <a:prstGeom prst="roundRect">
            <a:avLst>
              <a:gd name="adj" fmla="val 18750"/>
            </a:avLst>
          </a:prstGeom>
          <a:solidFill>
            <a:srgbClr val="94A3B8"/>
          </a:solidFill>
          <a:ln w="12700">
            <a:solidFill>
              <a:srgbClr val="94A3B8"/>
            </a:solidFill>
            <a:prstDash val="solid"/>
          </a:ln>
        </p:spPr>
      </p:sp>
      <p:sp>
        <p:nvSpPr>
          <p:cNvPr id="35" name="Text 33"/>
          <p:cNvSpPr txBox="1"/>
          <p:nvPr/>
        </p:nvSpPr>
        <p:spPr>
          <a:xfrm>
            <a:off x="6263640" y="3447288"/>
            <a:ext cx="685800" cy="292608"/>
          </a:xfrm>
          <a:prstGeom prst="rect">
            <a:avLst/>
          </a:prstGeom>
          <a:noFill/>
          <a:ln/>
        </p:spPr>
        <p:txBody>
          <a:bodyPr wrap="square" lIns="0" tIns="0" rIns="0" bIns="0" rtlCol="0" anchor="ctr"/>
          <a:lstStyle/>
          <a:p>
            <a:pPr algn="ctr" indent="0" marL="0">
              <a:buNone/>
            </a:pPr>
            <a:r>
              <a:rPr lang="en-US" sz="900" b="1" dirty="0">
                <a:solidFill>
                  <a:schemeClr val="bg1"/>
                </a:solidFill>
              </a:rPr>
              <a:t>TP4</a:t>
            </a:r>
            <a:endParaRPr lang="en-US" sz="900" dirty="0"/>
          </a:p>
        </p:txBody>
      </p:sp>
      <p:sp>
        <p:nvSpPr>
          <p:cNvPr id="36" name="Text 34"/>
          <p:cNvSpPr txBox="1"/>
          <p:nvPr/>
        </p:nvSpPr>
        <p:spPr>
          <a:xfrm>
            <a:off x="7040880" y="3364992"/>
            <a:ext cx="1600200" cy="457200"/>
          </a:xfrm>
          <a:prstGeom prst="rect">
            <a:avLst/>
          </a:prstGeom>
          <a:noFill/>
          <a:ln/>
        </p:spPr>
        <p:txBody>
          <a:bodyPr wrap="square" lIns="0" tIns="0" rIns="0" bIns="0" rtlCol="0" anchor="ctr"/>
          <a:lstStyle/>
          <a:p>
            <a:pPr indent="0" marL="0">
              <a:buNone/>
            </a:pPr>
            <a:r>
              <a:rPr lang="en-US" sz="1200" b="1" dirty="0">
                <a:solidFill>
                  <a:schemeClr val="tx2"/>
                </a:solidFill>
              </a:rPr>
              <a:t>Streaming + drift</a:t>
            </a:r>
            <a:endParaRPr lang="en-US" sz="1200" dirty="0"/>
          </a:p>
        </p:txBody>
      </p:sp>
      <p:sp>
        <p:nvSpPr>
          <p:cNvPr id="37" name="Capa TP5"/>
          <p:cNvSpPr/>
          <p:nvPr/>
        </p:nvSpPr>
        <p:spPr>
          <a:xfrm>
            <a:off x="6172200" y="3895344"/>
            <a:ext cx="2514600" cy="457200"/>
          </a:xfrm>
          <a:prstGeom prst="roundRect">
            <a:avLst>
              <a:gd name="adj" fmla="val 16000"/>
            </a:avLst>
          </a:prstGeom>
          <a:solidFill>
            <a:srgbClr val="EEF2F7"/>
          </a:solidFill>
          <a:ln w="12700">
            <a:solidFill>
              <a:srgbClr val="EEF2F7"/>
            </a:solidFill>
            <a:prstDash val="solid"/>
          </a:ln>
        </p:spPr>
      </p:sp>
      <p:sp>
        <p:nvSpPr>
          <p:cNvPr id="38" name="Shape 36"/>
          <p:cNvSpPr/>
          <p:nvPr/>
        </p:nvSpPr>
        <p:spPr>
          <a:xfrm>
            <a:off x="6263640" y="3977640"/>
            <a:ext cx="685800" cy="292608"/>
          </a:xfrm>
          <a:prstGeom prst="roundRect">
            <a:avLst>
              <a:gd name="adj" fmla="val 18750"/>
            </a:avLst>
          </a:prstGeom>
          <a:solidFill>
            <a:srgbClr val="94A3B8"/>
          </a:solidFill>
          <a:ln w="12700">
            <a:solidFill>
              <a:srgbClr val="94A3B8"/>
            </a:solidFill>
            <a:prstDash val="solid"/>
          </a:ln>
        </p:spPr>
      </p:sp>
      <p:sp>
        <p:nvSpPr>
          <p:cNvPr id="39" name="Text 37"/>
          <p:cNvSpPr txBox="1"/>
          <p:nvPr/>
        </p:nvSpPr>
        <p:spPr>
          <a:xfrm>
            <a:off x="6263640" y="3977640"/>
            <a:ext cx="685800" cy="292608"/>
          </a:xfrm>
          <a:prstGeom prst="rect">
            <a:avLst/>
          </a:prstGeom>
          <a:noFill/>
          <a:ln/>
        </p:spPr>
        <p:txBody>
          <a:bodyPr wrap="square" lIns="0" tIns="0" rIns="0" bIns="0" rtlCol="0" anchor="ctr"/>
          <a:lstStyle/>
          <a:p>
            <a:pPr algn="ctr" indent="0" marL="0">
              <a:buNone/>
            </a:pPr>
            <a:r>
              <a:rPr lang="en-US" sz="900" b="1" dirty="0">
                <a:solidFill>
                  <a:schemeClr val="bg1"/>
                </a:solidFill>
              </a:rPr>
              <a:t>TP5</a:t>
            </a:r>
            <a:endParaRPr lang="en-US" sz="900" dirty="0"/>
          </a:p>
        </p:txBody>
      </p:sp>
      <p:sp>
        <p:nvSpPr>
          <p:cNvPr id="40" name="Text 38"/>
          <p:cNvSpPr txBox="1"/>
          <p:nvPr/>
        </p:nvSpPr>
        <p:spPr>
          <a:xfrm>
            <a:off x="7040880" y="3895344"/>
            <a:ext cx="1600200" cy="457200"/>
          </a:xfrm>
          <a:prstGeom prst="rect">
            <a:avLst/>
          </a:prstGeom>
          <a:noFill/>
          <a:ln/>
        </p:spPr>
        <p:txBody>
          <a:bodyPr wrap="square" lIns="0" tIns="0" rIns="0" bIns="0" rtlCol="0" anchor="ctr"/>
          <a:lstStyle/>
          <a:p>
            <a:pPr indent="0" marL="0">
              <a:buNone/>
            </a:pPr>
            <a:r>
              <a:rPr lang="en-US" sz="1200" b="1" dirty="0">
                <a:solidFill>
                  <a:schemeClr val="tx2"/>
                </a:solidFill>
              </a:rPr>
              <a:t>Federado FedAvg</a:t>
            </a:r>
            <a:endParaRPr lang="en-US" sz="1200" dirty="0"/>
          </a:p>
        </p:txBody>
      </p:sp>
      <p:sp>
        <p:nvSpPr>
          <p:cNvPr id="41" name="Flujo"/>
          <p:cNvSpPr/>
          <p:nvPr/>
        </p:nvSpPr>
        <p:spPr>
          <a:xfrm>
            <a:off x="457200" y="4069080"/>
            <a:ext cx="5257800" cy="594360"/>
          </a:xfrm>
          <a:prstGeom prst="roundRect">
            <a:avLst>
              <a:gd name="adj" fmla="val 12308"/>
            </a:avLst>
          </a:prstGeom>
          <a:solidFill>
            <a:srgbClr val="0F1B2D"/>
          </a:solidFill>
          <a:ln w="12700">
            <a:solidFill>
              <a:srgbClr val="0F1B2D"/>
            </a:solidFill>
            <a:prstDash val="solid"/>
          </a:ln>
        </p:spPr>
      </p:sp>
      <p:sp>
        <p:nvSpPr>
          <p:cNvPr id="42" name="Text 40"/>
          <p:cNvSpPr txBox="1"/>
          <p:nvPr/>
        </p:nvSpPr>
        <p:spPr>
          <a:xfrm>
            <a:off x="640080" y="4069080"/>
            <a:ext cx="4937760" cy="594360"/>
          </a:xfrm>
          <a:prstGeom prst="rect">
            <a:avLst/>
          </a:prstGeom>
          <a:noFill/>
          <a:ln/>
        </p:spPr>
        <p:txBody>
          <a:bodyPr wrap="square" lIns="0" tIns="0" rIns="0" bIns="0" rtlCol="0" anchor="ctr"/>
          <a:lstStyle/>
          <a:p>
            <a:pPr indent="0" marL="0">
              <a:buNone/>
            </a:pPr>
            <a:r>
              <a:rPr lang="en-US" sz="1200" b="1" dirty="0">
                <a:solidFill>
                  <a:schemeClr val="bg1"/>
                </a:solidFill>
              </a:rPr>
              <a:t>Airflow entrena → MLflow elige el champion → la API segura lo sirve → el data lake guarda cada versión</a:t>
            </a:r>
            <a:endParaRPr lang="en-US" sz="12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548640"/>
          </a:xfrm>
          <a:prstGeom prst="rect">
            <a:avLst/>
          </a:prstGeom>
          <a:noFill/>
          <a:ln/>
        </p:spPr>
        <p:txBody>
          <a:bodyPr wrap="square" lIns="0" tIns="0" rIns="0" bIns="0" rtlCol="0" anchor="t"/>
          <a:lstStyle/>
          <a:p>
            <a:pPr algn="l" indent="0" marL="0">
              <a:buNone/>
            </a:pPr>
            <a:r>
              <a:rPr lang="en-US" sz="2800" b="1" dirty="0">
                <a:solidFill>
                  <a:schemeClr val="tx1"/>
                </a:solidFill>
              </a:rPr>
              <a:t>Qué aprendí de los mini-TPs</a:t>
            </a:r>
            <a:endParaRPr lang="en-US" sz="2800" dirty="0"/>
          </a:p>
        </p:txBody>
      </p:sp>
      <p:sp>
        <p:nvSpPr>
          <p:cNvPr id="3" name="Text 1"/>
          <p:cNvSpPr txBox="1"/>
          <p:nvPr/>
        </p:nvSpPr>
        <p:spPr>
          <a:xfrm>
            <a:off x="457200" y="960120"/>
            <a:ext cx="8229600" cy="228600"/>
          </a:xfrm>
          <a:prstGeom prst="rect">
            <a:avLst/>
          </a:prstGeom>
          <a:noFill/>
          <a:ln/>
        </p:spPr>
        <p:txBody>
          <a:bodyPr wrap="square" lIns="0" tIns="0" rIns="0" bIns="0" rtlCol="0" anchor="ctr"/>
          <a:lstStyle/>
          <a:p>
            <a:pPr indent="0" marL="0">
              <a:buNone/>
            </a:pPr>
            <a:r>
              <a:rPr lang="en-US" sz="1000" b="1" spc="100" kern="0" dirty="0">
                <a:solidFill>
                  <a:schemeClr val="accent1"/>
                </a:solidFill>
              </a:rPr>
              <a:t>INTEGRADAS AL STACK</a:t>
            </a:r>
            <a:endParaRPr lang="en-US" sz="1000" dirty="0"/>
          </a:p>
        </p:txBody>
      </p:sp>
      <p:sp>
        <p:nvSpPr>
          <p:cNvPr id="4" name="Integrada 1"/>
          <p:cNvSpPr/>
          <p:nvPr/>
        </p:nvSpPr>
        <p:spPr>
          <a:xfrm>
            <a:off x="457200" y="1280160"/>
            <a:ext cx="4023360" cy="1463040"/>
          </a:xfrm>
          <a:prstGeom prst="roundRect">
            <a:avLst>
              <a:gd name="adj" fmla="val 5000"/>
            </a:avLst>
          </a:prstGeom>
          <a:solidFill>
            <a:srgbClr val="FCE8E2"/>
          </a:solidFill>
          <a:ln w="12700">
            <a:solidFill>
              <a:srgbClr val="FCE8E2"/>
            </a:solidFill>
            <a:prstDash val="solid"/>
          </a:ln>
        </p:spPr>
      </p:sp>
      <p:sp>
        <p:nvSpPr>
          <p:cNvPr id="5" name="Shape 3"/>
          <p:cNvSpPr/>
          <p:nvPr/>
        </p:nvSpPr>
        <p:spPr>
          <a:xfrm>
            <a:off x="640080" y="1463040"/>
            <a:ext cx="384048" cy="384048"/>
          </a:xfrm>
          <a:prstGeom prst="ellipse">
            <a:avLst/>
          </a:prstGeom>
          <a:solidFill>
            <a:srgbClr val="E4572E"/>
          </a:solidFill>
          <a:ln w="12700">
            <a:solidFill>
              <a:srgbClr val="E4572E"/>
            </a:solidFill>
            <a:prstDash val="solid"/>
          </a:ln>
        </p:spPr>
      </p:sp>
      <p:pic>
        <p:nvPicPr>
          <p:cNvPr id="6" name="Image 0" descr="preencoded.png">    </p:cNvPr>
          <p:cNvPicPr>
            <a:picLocks noChangeAspect="1"/>
          </p:cNvPicPr>
          <p:nvPr/>
        </p:nvPicPr>
        <p:blipFill>
          <a:blip r:embed="rId1"/>
          <a:stretch>
            <a:fillRect/>
          </a:stretch>
        </p:blipFill>
        <p:spPr>
          <a:xfrm>
            <a:off x="731520" y="1554480"/>
            <a:ext cx="201168" cy="201168"/>
          </a:xfrm>
          <a:prstGeom prst="rect">
            <a:avLst/>
          </a:prstGeom>
        </p:spPr>
      </p:pic>
      <p:sp>
        <p:nvSpPr>
          <p:cNvPr id="7" name="Text 4"/>
          <p:cNvSpPr txBox="1"/>
          <p:nvPr/>
        </p:nvSpPr>
        <p:spPr>
          <a:xfrm>
            <a:off x="1143000" y="1463040"/>
            <a:ext cx="3200400" cy="384048"/>
          </a:xfrm>
          <a:prstGeom prst="rect">
            <a:avLst/>
          </a:prstGeom>
          <a:noFill/>
          <a:ln/>
        </p:spPr>
        <p:txBody>
          <a:bodyPr wrap="square" lIns="0" tIns="0" rIns="0" bIns="0" rtlCol="0" anchor="ctr"/>
          <a:lstStyle/>
          <a:p>
            <a:pPr indent="0" marL="0">
              <a:buNone/>
            </a:pPr>
            <a:r>
              <a:rPr lang="en-US" sz="1300" b="1" dirty="0">
                <a:solidFill>
                  <a:schemeClr val="tx1"/>
                </a:solidFill>
              </a:rPr>
              <a:t>TP1 + TP7 · API REST segura</a:t>
            </a:r>
            <a:endParaRPr lang="en-US" sz="1300" dirty="0"/>
          </a:p>
        </p:txBody>
      </p:sp>
      <p:sp>
        <p:nvSpPr>
          <p:cNvPr id="8" name="Text 5"/>
          <p:cNvSpPr txBox="1"/>
          <p:nvPr/>
        </p:nvSpPr>
        <p:spPr>
          <a:xfrm>
            <a:off x="640080" y="1938528"/>
            <a:ext cx="1828800" cy="548640"/>
          </a:xfrm>
          <a:prstGeom prst="rect">
            <a:avLst/>
          </a:prstGeom>
          <a:noFill/>
          <a:ln/>
        </p:spPr>
        <p:txBody>
          <a:bodyPr wrap="square" lIns="0" tIns="0" rIns="0" bIns="0" rtlCol="0" anchor="ctr"/>
          <a:lstStyle/>
          <a:p>
            <a:pPr indent="0" marL="0">
              <a:buNone/>
            </a:pPr>
            <a:r>
              <a:rPr lang="en-US" sz="2000" b="1" dirty="0">
                <a:solidFill>
                  <a:srgbClr val="E4572E"/>
                </a:solidFill>
                <a:latin typeface="Arial" pitchFamily="34" charset="0"/>
                <a:ea typeface="Arial" pitchFamily="34" charset="-122"/>
                <a:cs typeface="Arial" pitchFamily="34" charset="-120"/>
              </a:rPr>
              <a:t>401 · 403 · 429</a:t>
            </a:r>
            <a:endParaRPr lang="en-US" sz="2000" dirty="0"/>
          </a:p>
        </p:txBody>
      </p:sp>
      <p:sp>
        <p:nvSpPr>
          <p:cNvPr id="9" name="Text 6"/>
          <p:cNvSpPr txBox="1"/>
          <p:nvPr/>
        </p:nvSpPr>
        <p:spPr>
          <a:xfrm>
            <a:off x="2560320" y="1920240"/>
            <a:ext cx="1783080" cy="685800"/>
          </a:xfrm>
          <a:prstGeom prst="rect">
            <a:avLst/>
          </a:prstGeom>
          <a:noFill/>
          <a:ln/>
        </p:spPr>
        <p:txBody>
          <a:bodyPr wrap="square" lIns="0" tIns="0" rIns="0" bIns="0" rtlCol="0" anchor="ctr"/>
          <a:lstStyle/>
          <a:p>
            <a:pPr indent="0" marL="0">
              <a:buNone/>
            </a:pPr>
            <a:r>
              <a:rPr lang="en-US" sz="1100" dirty="0">
                <a:solidFill>
                  <a:schemeClr val="tx1"/>
                </a:solidFill>
              </a:rPr>
              <a:t>Sin token, rol sin permiso, ráfaga de consultas. Auditoría con hash, sin el dato clínico.</a:t>
            </a:r>
            <a:endParaRPr lang="en-US" sz="1100" dirty="0"/>
          </a:p>
        </p:txBody>
      </p:sp>
      <p:sp>
        <p:nvSpPr>
          <p:cNvPr id="10" name="Integrada 2"/>
          <p:cNvSpPr/>
          <p:nvPr/>
        </p:nvSpPr>
        <p:spPr>
          <a:xfrm>
            <a:off x="4663440" y="1280160"/>
            <a:ext cx="4023360" cy="1463040"/>
          </a:xfrm>
          <a:prstGeom prst="roundRect">
            <a:avLst>
              <a:gd name="adj" fmla="val 5000"/>
            </a:avLst>
          </a:prstGeom>
          <a:solidFill>
            <a:srgbClr val="FCE8E2"/>
          </a:solidFill>
          <a:ln w="12700">
            <a:solidFill>
              <a:srgbClr val="FCE8E2"/>
            </a:solidFill>
            <a:prstDash val="solid"/>
          </a:ln>
        </p:spPr>
      </p:sp>
      <p:sp>
        <p:nvSpPr>
          <p:cNvPr id="11" name="Shape 8"/>
          <p:cNvSpPr/>
          <p:nvPr/>
        </p:nvSpPr>
        <p:spPr>
          <a:xfrm>
            <a:off x="4846320" y="1463040"/>
            <a:ext cx="384048" cy="384048"/>
          </a:xfrm>
          <a:prstGeom prst="ellipse">
            <a:avLst/>
          </a:prstGeom>
          <a:solidFill>
            <a:srgbClr val="C77D12"/>
          </a:solidFill>
          <a:ln w="12700">
            <a:solidFill>
              <a:srgbClr val="C77D12"/>
            </a:solidFill>
            <a:prstDash val="solid"/>
          </a:ln>
        </p:spPr>
      </p:sp>
      <p:pic>
        <p:nvPicPr>
          <p:cNvPr id="12" name="Image 1" descr="preencoded.png">    </p:cNvPr>
          <p:cNvPicPr>
            <a:picLocks noChangeAspect="1"/>
          </p:cNvPicPr>
          <p:nvPr/>
        </p:nvPicPr>
        <p:blipFill>
          <a:blip r:embed="rId2"/>
          <a:stretch>
            <a:fillRect/>
          </a:stretch>
        </p:blipFill>
        <p:spPr>
          <a:xfrm>
            <a:off x="4937760" y="1554480"/>
            <a:ext cx="201168" cy="201168"/>
          </a:xfrm>
          <a:prstGeom prst="rect">
            <a:avLst/>
          </a:prstGeom>
        </p:spPr>
      </p:pic>
      <p:sp>
        <p:nvSpPr>
          <p:cNvPr id="13" name="Text 9"/>
          <p:cNvSpPr txBox="1"/>
          <p:nvPr/>
        </p:nvSpPr>
        <p:spPr>
          <a:xfrm>
            <a:off x="5349240" y="1463040"/>
            <a:ext cx="3200400" cy="384048"/>
          </a:xfrm>
          <a:prstGeom prst="rect">
            <a:avLst/>
          </a:prstGeom>
          <a:noFill/>
          <a:ln/>
        </p:spPr>
        <p:txBody>
          <a:bodyPr wrap="square" lIns="0" tIns="0" rIns="0" bIns="0" rtlCol="0" anchor="ctr"/>
          <a:lstStyle/>
          <a:p>
            <a:pPr indent="0" marL="0">
              <a:buNone/>
            </a:pPr>
            <a:r>
              <a:rPr lang="en-US" sz="1300" b="1" dirty="0">
                <a:solidFill>
                  <a:schemeClr val="tx1"/>
                </a:solidFill>
              </a:rPr>
              <a:t>TP6 · Data lake versionado</a:t>
            </a:r>
            <a:endParaRPr lang="en-US" sz="1300" dirty="0"/>
          </a:p>
        </p:txBody>
      </p:sp>
      <p:sp>
        <p:nvSpPr>
          <p:cNvPr id="14" name="Text 10"/>
          <p:cNvSpPr txBox="1"/>
          <p:nvPr/>
        </p:nvSpPr>
        <p:spPr>
          <a:xfrm>
            <a:off x="4846320" y="1938528"/>
            <a:ext cx="1828800" cy="548640"/>
          </a:xfrm>
          <a:prstGeom prst="rect">
            <a:avLst/>
          </a:prstGeom>
          <a:noFill/>
          <a:ln/>
        </p:spPr>
        <p:txBody>
          <a:bodyPr wrap="square" lIns="0" tIns="0" rIns="0" bIns="0" rtlCol="0" anchor="ctr"/>
          <a:lstStyle/>
          <a:p>
            <a:pPr indent="0" marL="0">
              <a:buNone/>
            </a:pPr>
            <a:r>
              <a:rPr lang="en-US" sz="2000" b="1" dirty="0">
                <a:solidFill>
                  <a:srgbClr val="C77D12"/>
                </a:solidFill>
                <a:latin typeface="Arial" pitchFamily="34" charset="0"/>
                <a:ea typeface="Arial" pitchFamily="34" charset="-122"/>
                <a:cs typeface="Arial" pitchFamily="34" charset="-120"/>
              </a:rPr>
              <a:t>3 etapas</a:t>
            </a:r>
            <a:endParaRPr lang="en-US" sz="2000" dirty="0"/>
          </a:p>
        </p:txBody>
      </p:sp>
      <p:sp>
        <p:nvSpPr>
          <p:cNvPr id="15" name="Text 11"/>
          <p:cNvSpPr txBox="1"/>
          <p:nvPr/>
        </p:nvSpPr>
        <p:spPr>
          <a:xfrm>
            <a:off x="6766560" y="1920240"/>
            <a:ext cx="1783080" cy="685800"/>
          </a:xfrm>
          <a:prstGeom prst="rect">
            <a:avLst/>
          </a:prstGeom>
          <a:noFill/>
          <a:ln/>
        </p:spPr>
        <p:txBody>
          <a:bodyPr wrap="square" lIns="0" tIns="0" rIns="0" bIns="0" rtlCol="0" anchor="ctr"/>
          <a:lstStyle/>
          <a:p>
            <a:pPr indent="0" marL="0">
              <a:buNone/>
            </a:pPr>
            <a:r>
              <a:rPr lang="en-US" sz="1100" dirty="0">
                <a:solidFill>
                  <a:schemeClr val="tx1"/>
                </a:solidFill>
              </a:rPr>
              <a:t>Datos crudos, datos limpios y modelos. Cada versión se guarda aparte y nunca se pisa.</a:t>
            </a:r>
            <a:endParaRPr lang="en-US" sz="1100" dirty="0"/>
          </a:p>
        </p:txBody>
      </p:sp>
      <p:sp>
        <p:nvSpPr>
          <p:cNvPr id="16" name="Text 12"/>
          <p:cNvSpPr txBox="1"/>
          <p:nvPr/>
        </p:nvSpPr>
        <p:spPr>
          <a:xfrm>
            <a:off x="457200" y="2926080"/>
            <a:ext cx="8229600" cy="228600"/>
          </a:xfrm>
          <a:prstGeom prst="rect">
            <a:avLst/>
          </a:prstGeom>
          <a:noFill/>
          <a:ln/>
        </p:spPr>
        <p:txBody>
          <a:bodyPr wrap="square" lIns="0" tIns="0" rIns="0" bIns="0" rtlCol="0" anchor="ctr"/>
          <a:lstStyle/>
          <a:p>
            <a:pPr indent="0" marL="0">
              <a:buNone/>
            </a:pPr>
            <a:r>
              <a:rPr lang="en-US" sz="1000" b="1" spc="100" kern="0" dirty="0">
                <a:solidFill>
                  <a:schemeClr val="tx2"/>
                </a:solidFill>
              </a:rPr>
              <a:t>EXPLORADAS PARA COMPARAR (MISMO MODELO)</a:t>
            </a:r>
            <a:endParaRPr lang="en-US" sz="1000" dirty="0"/>
          </a:p>
        </p:txBody>
      </p:sp>
      <p:sp>
        <p:nvSpPr>
          <p:cNvPr id="17" name="Explorada 1"/>
          <p:cNvSpPr/>
          <p:nvPr/>
        </p:nvSpPr>
        <p:spPr>
          <a:xfrm>
            <a:off x="457200" y="3246120"/>
            <a:ext cx="2606040" cy="1417320"/>
          </a:xfrm>
          <a:prstGeom prst="roundRect">
            <a:avLst>
              <a:gd name="adj" fmla="val 5161"/>
            </a:avLst>
          </a:prstGeom>
          <a:solidFill>
            <a:srgbClr val="EEF2F7"/>
          </a:solidFill>
          <a:ln w="12700">
            <a:solidFill>
              <a:srgbClr val="EEF2F7"/>
            </a:solidFill>
            <a:prstDash val="solid"/>
          </a:ln>
        </p:spPr>
      </p:sp>
      <p:sp>
        <p:nvSpPr>
          <p:cNvPr id="18" name="Shape 14"/>
          <p:cNvSpPr/>
          <p:nvPr/>
        </p:nvSpPr>
        <p:spPr>
          <a:xfrm>
            <a:off x="640080" y="3410712"/>
            <a:ext cx="329184" cy="329184"/>
          </a:xfrm>
          <a:prstGeom prst="ellipse">
            <a:avLst/>
          </a:prstGeom>
          <a:solidFill>
            <a:srgbClr val="3D5A80"/>
          </a:solidFill>
          <a:ln w="12700">
            <a:solidFill>
              <a:srgbClr val="3D5A80"/>
            </a:solidFill>
            <a:prstDash val="solid"/>
          </a:ln>
        </p:spPr>
      </p:sp>
      <p:pic>
        <p:nvPicPr>
          <p:cNvPr id="19" name="Image 2" descr="preencoded.png">    </p:cNvPr>
          <p:cNvPicPr>
            <a:picLocks noChangeAspect="1"/>
          </p:cNvPicPr>
          <p:nvPr/>
        </p:nvPicPr>
        <p:blipFill>
          <a:blip r:embed="rId3"/>
          <a:stretch>
            <a:fillRect/>
          </a:stretch>
        </p:blipFill>
        <p:spPr>
          <a:xfrm>
            <a:off x="713232" y="3483864"/>
            <a:ext cx="182880" cy="182880"/>
          </a:xfrm>
          <a:prstGeom prst="rect">
            <a:avLst/>
          </a:prstGeom>
        </p:spPr>
      </p:pic>
      <p:sp>
        <p:nvSpPr>
          <p:cNvPr id="20" name="Text 15"/>
          <p:cNvSpPr txBox="1"/>
          <p:nvPr/>
        </p:nvSpPr>
        <p:spPr>
          <a:xfrm>
            <a:off x="1078992" y="3410712"/>
            <a:ext cx="1920240" cy="329184"/>
          </a:xfrm>
          <a:prstGeom prst="rect">
            <a:avLst/>
          </a:prstGeom>
          <a:noFill/>
          <a:ln/>
        </p:spPr>
        <p:txBody>
          <a:bodyPr wrap="square" lIns="0" tIns="0" rIns="0" bIns="0" rtlCol="0" anchor="ctr"/>
          <a:lstStyle/>
          <a:p>
            <a:pPr indent="0" marL="0">
              <a:buNone/>
            </a:pPr>
            <a:r>
              <a:rPr lang="en-US" sz="1100" b="1" dirty="0">
                <a:solidFill>
                  <a:schemeClr val="tx2"/>
                </a:solidFill>
              </a:rPr>
              <a:t>TP2–3 · GraphQL y gRPC</a:t>
            </a:r>
            <a:endParaRPr lang="en-US" sz="1100" dirty="0"/>
          </a:p>
        </p:txBody>
      </p:sp>
      <p:sp>
        <p:nvSpPr>
          <p:cNvPr id="21" name="Text 16"/>
          <p:cNvSpPr txBox="1"/>
          <p:nvPr/>
        </p:nvSpPr>
        <p:spPr>
          <a:xfrm>
            <a:off x="640080" y="3840480"/>
            <a:ext cx="2286000" cy="411480"/>
          </a:xfrm>
          <a:prstGeom prst="rect">
            <a:avLst/>
          </a:prstGeom>
          <a:noFill/>
          <a:ln/>
        </p:spPr>
        <p:txBody>
          <a:bodyPr wrap="square" lIns="0" tIns="0" rIns="0" bIns="0" rtlCol="0" anchor="ctr"/>
          <a:lstStyle/>
          <a:p>
            <a:pPr indent="0" marL="0">
              <a:buNone/>
            </a:pPr>
            <a:r>
              <a:rPr lang="en-US" sz="2000" b="1" dirty="0">
                <a:solidFill>
                  <a:srgbClr val="3D5A80"/>
                </a:solidFill>
                <a:latin typeface="Arial" pitchFamily="34" charset="0"/>
                <a:ea typeface="Arial" pitchFamily="34" charset="-122"/>
                <a:cs typeface="Arial" pitchFamily="34" charset="-120"/>
              </a:rPr>
              <a:t>−59 %</a:t>
            </a:r>
            <a:endParaRPr lang="en-US" sz="2000" dirty="0"/>
          </a:p>
        </p:txBody>
      </p:sp>
      <p:sp>
        <p:nvSpPr>
          <p:cNvPr id="22" name="Text 17"/>
          <p:cNvSpPr txBox="1"/>
          <p:nvPr/>
        </p:nvSpPr>
        <p:spPr>
          <a:xfrm>
            <a:off x="640080" y="4251960"/>
            <a:ext cx="2286000" cy="274320"/>
          </a:xfrm>
          <a:prstGeom prst="rect">
            <a:avLst/>
          </a:prstGeom>
          <a:noFill/>
          <a:ln/>
        </p:spPr>
        <p:txBody>
          <a:bodyPr wrap="square" lIns="0" tIns="0" rIns="0" bIns="0" rtlCol="0" anchor="ctr"/>
          <a:lstStyle/>
          <a:p>
            <a:pPr indent="0" marL="0">
              <a:buNone/>
            </a:pPr>
            <a:r>
              <a:rPr lang="en-US" sz="1100" dirty="0">
                <a:solidFill>
                  <a:schemeClr val="tx1"/>
                </a:solidFill>
              </a:rPr>
              <a:t>bytes con GraphQL vs REST</a:t>
            </a:r>
            <a:endParaRPr lang="en-US" sz="1100" dirty="0"/>
          </a:p>
        </p:txBody>
      </p:sp>
      <p:sp>
        <p:nvSpPr>
          <p:cNvPr id="23" name="Explorada 2"/>
          <p:cNvSpPr/>
          <p:nvPr/>
        </p:nvSpPr>
        <p:spPr>
          <a:xfrm>
            <a:off x="3246120" y="3246120"/>
            <a:ext cx="2606040" cy="1417320"/>
          </a:xfrm>
          <a:prstGeom prst="roundRect">
            <a:avLst>
              <a:gd name="adj" fmla="val 5161"/>
            </a:avLst>
          </a:prstGeom>
          <a:solidFill>
            <a:srgbClr val="EEF2F7"/>
          </a:solidFill>
          <a:ln w="12700">
            <a:solidFill>
              <a:srgbClr val="EEF2F7"/>
            </a:solidFill>
            <a:prstDash val="solid"/>
          </a:ln>
        </p:spPr>
      </p:sp>
      <p:sp>
        <p:nvSpPr>
          <p:cNvPr id="24" name="Shape 19"/>
          <p:cNvSpPr/>
          <p:nvPr/>
        </p:nvSpPr>
        <p:spPr>
          <a:xfrm>
            <a:off x="3429000" y="3410712"/>
            <a:ext cx="329184" cy="329184"/>
          </a:xfrm>
          <a:prstGeom prst="ellipse">
            <a:avLst/>
          </a:prstGeom>
          <a:solidFill>
            <a:srgbClr val="2A9D8F"/>
          </a:solidFill>
          <a:ln w="12700">
            <a:solidFill>
              <a:srgbClr val="2A9D8F"/>
            </a:solidFill>
            <a:prstDash val="solid"/>
          </a:ln>
        </p:spPr>
      </p:sp>
      <p:pic>
        <p:nvPicPr>
          <p:cNvPr id="25" name="Image 3" descr="preencoded.png">    </p:cNvPr>
          <p:cNvPicPr>
            <a:picLocks noChangeAspect="1"/>
          </p:cNvPicPr>
          <p:nvPr/>
        </p:nvPicPr>
        <p:blipFill>
          <a:blip r:embed="rId4"/>
          <a:stretch>
            <a:fillRect/>
          </a:stretch>
        </p:blipFill>
        <p:spPr>
          <a:xfrm>
            <a:off x="3502152" y="3483864"/>
            <a:ext cx="182880" cy="182880"/>
          </a:xfrm>
          <a:prstGeom prst="rect">
            <a:avLst/>
          </a:prstGeom>
        </p:spPr>
      </p:pic>
      <p:sp>
        <p:nvSpPr>
          <p:cNvPr id="26" name="Text 20"/>
          <p:cNvSpPr txBox="1"/>
          <p:nvPr/>
        </p:nvSpPr>
        <p:spPr>
          <a:xfrm>
            <a:off x="3867912" y="3410712"/>
            <a:ext cx="1920240" cy="329184"/>
          </a:xfrm>
          <a:prstGeom prst="rect">
            <a:avLst/>
          </a:prstGeom>
          <a:noFill/>
          <a:ln/>
        </p:spPr>
        <p:txBody>
          <a:bodyPr wrap="square" lIns="0" tIns="0" rIns="0" bIns="0" rtlCol="0" anchor="ctr"/>
          <a:lstStyle/>
          <a:p>
            <a:pPr indent="0" marL="0">
              <a:buNone/>
            </a:pPr>
            <a:r>
              <a:rPr lang="en-US" sz="1100" b="1" dirty="0">
                <a:solidFill>
                  <a:schemeClr val="tx2"/>
                </a:solidFill>
              </a:rPr>
              <a:t>TP4 · Streaming</a:t>
            </a:r>
            <a:endParaRPr lang="en-US" sz="1100" dirty="0"/>
          </a:p>
        </p:txBody>
      </p:sp>
      <p:sp>
        <p:nvSpPr>
          <p:cNvPr id="27" name="Text 21"/>
          <p:cNvSpPr txBox="1"/>
          <p:nvPr/>
        </p:nvSpPr>
        <p:spPr>
          <a:xfrm>
            <a:off x="3429000" y="3840480"/>
            <a:ext cx="2286000" cy="411480"/>
          </a:xfrm>
          <a:prstGeom prst="rect">
            <a:avLst/>
          </a:prstGeom>
          <a:noFill/>
          <a:ln/>
        </p:spPr>
        <p:txBody>
          <a:bodyPr wrap="square" lIns="0" tIns="0" rIns="0" bIns="0" rtlCol="0" anchor="ctr"/>
          <a:lstStyle/>
          <a:p>
            <a:pPr indent="0" marL="0">
              <a:buNone/>
            </a:pPr>
            <a:r>
              <a:rPr lang="en-US" sz="2000" b="1" dirty="0">
                <a:solidFill>
                  <a:srgbClr val="2A9D8F"/>
                </a:solidFill>
                <a:latin typeface="Arial" pitchFamily="34" charset="0"/>
                <a:ea typeface="Arial" pitchFamily="34" charset="-122"/>
                <a:cs typeface="Arial" pitchFamily="34" charset="-120"/>
              </a:rPr>
              <a:t>24 ms</a:t>
            </a:r>
            <a:endParaRPr lang="en-US" sz="2000" dirty="0"/>
          </a:p>
        </p:txBody>
      </p:sp>
      <p:sp>
        <p:nvSpPr>
          <p:cNvPr id="28" name="Text 22"/>
          <p:cNvSpPr txBox="1"/>
          <p:nvPr/>
        </p:nvSpPr>
        <p:spPr>
          <a:xfrm>
            <a:off x="3429000" y="4251960"/>
            <a:ext cx="2286000" cy="274320"/>
          </a:xfrm>
          <a:prstGeom prst="rect">
            <a:avLst/>
          </a:prstGeom>
          <a:noFill/>
          <a:ln/>
        </p:spPr>
        <p:txBody>
          <a:bodyPr wrap="square" lIns="0" tIns="0" rIns="0" bIns="0" rtlCol="0" anchor="ctr"/>
          <a:lstStyle/>
          <a:p>
            <a:pPr indent="0" marL="0">
              <a:buNone/>
            </a:pPr>
            <a:r>
              <a:rPr lang="en-US" sz="1100" dirty="0">
                <a:solidFill>
                  <a:schemeClr val="tx1"/>
                </a:solidFill>
              </a:rPr>
              <a:t>p95 global y detector de drift</a:t>
            </a:r>
            <a:endParaRPr lang="en-US" sz="1100" dirty="0"/>
          </a:p>
        </p:txBody>
      </p:sp>
      <p:sp>
        <p:nvSpPr>
          <p:cNvPr id="29" name="Explorada 3"/>
          <p:cNvSpPr/>
          <p:nvPr/>
        </p:nvSpPr>
        <p:spPr>
          <a:xfrm>
            <a:off x="6035040" y="3246120"/>
            <a:ext cx="2606040" cy="1417320"/>
          </a:xfrm>
          <a:prstGeom prst="roundRect">
            <a:avLst>
              <a:gd name="adj" fmla="val 5161"/>
            </a:avLst>
          </a:prstGeom>
          <a:solidFill>
            <a:srgbClr val="EEF2F7"/>
          </a:solidFill>
          <a:ln w="12700">
            <a:solidFill>
              <a:srgbClr val="EEF2F7"/>
            </a:solidFill>
            <a:prstDash val="solid"/>
          </a:ln>
        </p:spPr>
      </p:sp>
      <p:sp>
        <p:nvSpPr>
          <p:cNvPr id="30" name="Shape 24"/>
          <p:cNvSpPr/>
          <p:nvPr/>
        </p:nvSpPr>
        <p:spPr>
          <a:xfrm>
            <a:off x="6217920" y="3410712"/>
            <a:ext cx="329184" cy="329184"/>
          </a:xfrm>
          <a:prstGeom prst="ellipse">
            <a:avLst/>
          </a:prstGeom>
          <a:solidFill>
            <a:srgbClr val="8E5BB5"/>
          </a:solidFill>
          <a:ln w="12700">
            <a:solidFill>
              <a:srgbClr val="8E5BB5"/>
            </a:solidFill>
            <a:prstDash val="solid"/>
          </a:ln>
        </p:spPr>
      </p:sp>
      <p:pic>
        <p:nvPicPr>
          <p:cNvPr id="31" name="Image 4" descr="preencoded.png">    </p:cNvPr>
          <p:cNvPicPr>
            <a:picLocks noChangeAspect="1"/>
          </p:cNvPicPr>
          <p:nvPr/>
        </p:nvPicPr>
        <p:blipFill>
          <a:blip r:embed="rId5"/>
          <a:stretch>
            <a:fillRect/>
          </a:stretch>
        </p:blipFill>
        <p:spPr>
          <a:xfrm>
            <a:off x="6291072" y="3483864"/>
            <a:ext cx="182880" cy="182880"/>
          </a:xfrm>
          <a:prstGeom prst="rect">
            <a:avLst/>
          </a:prstGeom>
        </p:spPr>
      </p:pic>
      <p:sp>
        <p:nvSpPr>
          <p:cNvPr id="32" name="Text 25"/>
          <p:cNvSpPr txBox="1"/>
          <p:nvPr/>
        </p:nvSpPr>
        <p:spPr>
          <a:xfrm>
            <a:off x="6656832" y="3410712"/>
            <a:ext cx="1920240" cy="329184"/>
          </a:xfrm>
          <a:prstGeom prst="rect">
            <a:avLst/>
          </a:prstGeom>
          <a:noFill/>
          <a:ln/>
        </p:spPr>
        <p:txBody>
          <a:bodyPr wrap="square" lIns="0" tIns="0" rIns="0" bIns="0" rtlCol="0" anchor="ctr"/>
          <a:lstStyle/>
          <a:p>
            <a:pPr indent="0" marL="0">
              <a:buNone/>
            </a:pPr>
            <a:r>
              <a:rPr lang="en-US" sz="1100" b="1" dirty="0">
                <a:solidFill>
                  <a:schemeClr val="tx2"/>
                </a:solidFill>
              </a:rPr>
              <a:t>TP5 · Federado</a:t>
            </a:r>
            <a:endParaRPr lang="en-US" sz="1100" dirty="0"/>
          </a:p>
        </p:txBody>
      </p:sp>
      <p:sp>
        <p:nvSpPr>
          <p:cNvPr id="33" name="Text 26"/>
          <p:cNvSpPr txBox="1"/>
          <p:nvPr/>
        </p:nvSpPr>
        <p:spPr>
          <a:xfrm>
            <a:off x="6217920" y="3840480"/>
            <a:ext cx="2286000" cy="411480"/>
          </a:xfrm>
          <a:prstGeom prst="rect">
            <a:avLst/>
          </a:prstGeom>
          <a:noFill/>
          <a:ln/>
        </p:spPr>
        <p:txBody>
          <a:bodyPr wrap="square" lIns="0" tIns="0" rIns="0" bIns="0" rtlCol="0" anchor="ctr"/>
          <a:lstStyle/>
          <a:p>
            <a:pPr indent="0" marL="0">
              <a:buNone/>
            </a:pPr>
            <a:r>
              <a:rPr lang="en-US" sz="2000" b="1" dirty="0">
                <a:solidFill>
                  <a:srgbClr val="8E5BB5"/>
                </a:solidFill>
                <a:latin typeface="Arial" pitchFamily="34" charset="0"/>
                <a:ea typeface="Arial" pitchFamily="34" charset="-122"/>
                <a:cs typeface="Arial" pitchFamily="34" charset="-120"/>
              </a:rPr>
              <a:t>0.78 → 0.52</a:t>
            </a:r>
            <a:endParaRPr lang="en-US" sz="2000" dirty="0"/>
          </a:p>
        </p:txBody>
      </p:sp>
      <p:sp>
        <p:nvSpPr>
          <p:cNvPr id="34" name="Text 27"/>
          <p:cNvSpPr txBox="1"/>
          <p:nvPr/>
        </p:nvSpPr>
        <p:spPr>
          <a:xfrm>
            <a:off x="6217920" y="4251960"/>
            <a:ext cx="2286000" cy="274320"/>
          </a:xfrm>
          <a:prstGeom prst="rect">
            <a:avLst/>
          </a:prstGeom>
          <a:noFill/>
          <a:ln/>
        </p:spPr>
        <p:txBody>
          <a:bodyPr wrap="square" lIns="0" tIns="0" rIns="0" bIns="0" rtlCol="0" anchor="ctr"/>
          <a:lstStyle/>
          <a:p>
            <a:pPr indent="0" marL="0">
              <a:buNone/>
            </a:pPr>
            <a:r>
              <a:rPr lang="en-US" sz="1100" dirty="0">
                <a:solidFill>
                  <a:schemeClr val="tx1"/>
                </a:solidFill>
              </a:rPr>
              <a:t>IID vs non-IID (softmax)</a:t>
            </a:r>
            <a:endParaRPr lang="en-US" sz="11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8229600" cy="640080"/>
          </a:xfrm>
          <a:prstGeom prst="rect">
            <a:avLst/>
          </a:prstGeom>
          <a:noFill/>
          <a:ln/>
        </p:spPr>
        <p:txBody>
          <a:bodyPr wrap="square" lIns="0" tIns="0" rIns="0" bIns="0" rtlCol="0" anchor="t"/>
          <a:lstStyle/>
          <a:p>
            <a:pPr algn="l" indent="0" marL="0">
              <a:buNone/>
            </a:pPr>
            <a:r>
              <a:rPr lang="en-US" sz="3000" b="1" dirty="0">
                <a:solidFill>
                  <a:schemeClr val="bg1"/>
                </a:solidFill>
              </a:rPr>
              <a:t>Demo en vivo</a:t>
            </a:r>
            <a:endParaRPr lang="en-US" sz="3000" dirty="0"/>
          </a:p>
        </p:txBody>
      </p:sp>
      <p:sp>
        <p:nvSpPr>
          <p:cNvPr id="3" name="Shape 1"/>
          <p:cNvSpPr/>
          <p:nvPr/>
        </p:nvSpPr>
        <p:spPr>
          <a:xfrm>
            <a:off x="457200" y="1188720"/>
            <a:ext cx="457200" cy="457200"/>
          </a:xfrm>
          <a:prstGeom prst="ellipse">
            <a:avLst/>
          </a:prstGeom>
          <a:solidFill>
            <a:srgbClr val="E4572E"/>
          </a:solidFill>
          <a:ln w="12700">
            <a:solidFill>
              <a:srgbClr val="E4572E"/>
            </a:solidFill>
            <a:prstDash val="solid"/>
          </a:ln>
        </p:spPr>
      </p:sp>
      <p:sp>
        <p:nvSpPr>
          <p:cNvPr id="4" name="Text 2"/>
          <p:cNvSpPr txBox="1"/>
          <p:nvPr/>
        </p:nvSpPr>
        <p:spPr>
          <a:xfrm>
            <a:off x="457200" y="11887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097280" y="1161288"/>
            <a:ext cx="4206240" cy="274320"/>
          </a:xfrm>
          <a:prstGeom prst="rect">
            <a:avLst/>
          </a:prstGeom>
          <a:noFill/>
          <a:ln/>
        </p:spPr>
        <p:txBody>
          <a:bodyPr wrap="square" lIns="0" tIns="0" rIns="0" bIns="0" rtlCol="0" anchor="ctr"/>
          <a:lstStyle/>
          <a:p>
            <a:pPr indent="0" marL="0">
              <a:buNone/>
            </a:pPr>
            <a:r>
              <a:rPr lang="en-US" sz="1500" b="1" dirty="0">
                <a:solidFill>
                  <a:schemeClr val="bg1"/>
                </a:solidFill>
              </a:rPr>
              <a:t>Airflow :8080</a:t>
            </a:r>
            <a:endParaRPr lang="en-US" sz="1500" dirty="0"/>
          </a:p>
        </p:txBody>
      </p:sp>
      <p:sp>
        <p:nvSpPr>
          <p:cNvPr id="6" name="Text 4"/>
          <p:cNvSpPr txBox="1"/>
          <p:nvPr/>
        </p:nvSpPr>
        <p:spPr>
          <a:xfrm>
            <a:off x="1097280" y="1463040"/>
            <a:ext cx="4206240" cy="457200"/>
          </a:xfrm>
          <a:prstGeom prst="rect">
            <a:avLst/>
          </a:prstGeom>
          <a:noFill/>
          <a:ln/>
        </p:spPr>
        <p:txBody>
          <a:bodyPr wrap="square" lIns="0" tIns="0" rIns="0" bIns="0" rtlCol="0" anchor="t"/>
          <a:lstStyle/>
          <a:p>
            <a:pPr indent="0" marL="0">
              <a:buNone/>
            </a:pPr>
            <a:r>
              <a:rPr lang="en-US" sz="1100" dirty="0">
                <a:solidFill>
                  <a:srgbClr val="CBD5E1"/>
                </a:solidFill>
              </a:rPr>
              <a:t>Los dos DAGs en verde: ETL y reentrenamiento</a:t>
            </a:r>
            <a:endParaRPr lang="en-US" sz="1100" dirty="0"/>
          </a:p>
        </p:txBody>
      </p:sp>
      <p:sp>
        <p:nvSpPr>
          <p:cNvPr id="7" name="Shape 5"/>
          <p:cNvSpPr/>
          <p:nvPr/>
        </p:nvSpPr>
        <p:spPr>
          <a:xfrm>
            <a:off x="457200" y="2057400"/>
            <a:ext cx="457200" cy="457200"/>
          </a:xfrm>
          <a:prstGeom prst="ellipse">
            <a:avLst/>
          </a:prstGeom>
          <a:solidFill>
            <a:srgbClr val="E4572E"/>
          </a:solidFill>
          <a:ln w="12700">
            <a:solidFill>
              <a:srgbClr val="E4572E"/>
            </a:solidFill>
            <a:prstDash val="solid"/>
          </a:ln>
        </p:spPr>
      </p:sp>
      <p:sp>
        <p:nvSpPr>
          <p:cNvPr id="8" name="Text 6"/>
          <p:cNvSpPr txBox="1"/>
          <p:nvPr/>
        </p:nvSpPr>
        <p:spPr>
          <a:xfrm>
            <a:off x="457200" y="20574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097280" y="2029968"/>
            <a:ext cx="4206240" cy="274320"/>
          </a:xfrm>
          <a:prstGeom prst="rect">
            <a:avLst/>
          </a:prstGeom>
          <a:noFill/>
          <a:ln/>
        </p:spPr>
        <p:txBody>
          <a:bodyPr wrap="square" lIns="0" tIns="0" rIns="0" bIns="0" rtlCol="0" anchor="ctr"/>
          <a:lstStyle/>
          <a:p>
            <a:pPr indent="0" marL="0">
              <a:buNone/>
            </a:pPr>
            <a:r>
              <a:rPr lang="en-US" sz="1500" b="1" dirty="0">
                <a:solidFill>
                  <a:schemeClr val="bg1"/>
                </a:solidFill>
              </a:rPr>
              <a:t>MLflow :5000</a:t>
            </a:r>
            <a:endParaRPr lang="en-US" sz="1500" dirty="0"/>
          </a:p>
        </p:txBody>
      </p:sp>
      <p:sp>
        <p:nvSpPr>
          <p:cNvPr id="10" name="Text 8"/>
          <p:cNvSpPr txBox="1"/>
          <p:nvPr/>
        </p:nvSpPr>
        <p:spPr>
          <a:xfrm>
            <a:off x="1097280" y="2331720"/>
            <a:ext cx="4206240" cy="457200"/>
          </a:xfrm>
          <a:prstGeom prst="rect">
            <a:avLst/>
          </a:prstGeom>
          <a:noFill/>
          <a:ln/>
        </p:spPr>
        <p:txBody>
          <a:bodyPr wrap="square" lIns="0" tIns="0" rIns="0" bIns="0" rtlCol="0" anchor="t"/>
          <a:lstStyle/>
          <a:p>
            <a:pPr indent="0" marL="0">
              <a:buNone/>
            </a:pPr>
            <a:r>
              <a:rPr lang="en-US" sz="1100" dirty="0">
                <a:solidFill>
                  <a:srgbClr val="CBD5E1"/>
                </a:solidFill>
              </a:rPr>
              <a:t>El alias champion marca el modelo en producción</a:t>
            </a:r>
            <a:endParaRPr lang="en-US" sz="1100" dirty="0"/>
          </a:p>
        </p:txBody>
      </p:sp>
      <p:sp>
        <p:nvSpPr>
          <p:cNvPr id="11" name="Shape 9"/>
          <p:cNvSpPr/>
          <p:nvPr/>
        </p:nvSpPr>
        <p:spPr>
          <a:xfrm>
            <a:off x="457200" y="2926080"/>
            <a:ext cx="457200" cy="457200"/>
          </a:xfrm>
          <a:prstGeom prst="ellipse">
            <a:avLst/>
          </a:prstGeom>
          <a:solidFill>
            <a:srgbClr val="E4572E"/>
          </a:solidFill>
          <a:ln w="12700">
            <a:solidFill>
              <a:srgbClr val="E4572E"/>
            </a:solidFill>
            <a:prstDash val="solid"/>
          </a:ln>
        </p:spPr>
      </p:sp>
      <p:sp>
        <p:nvSpPr>
          <p:cNvPr id="12" name="Text 10"/>
          <p:cNvSpPr txBox="1"/>
          <p:nvPr/>
        </p:nvSpPr>
        <p:spPr>
          <a:xfrm>
            <a:off x="457200" y="2926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1097280" y="2898648"/>
            <a:ext cx="4206240" cy="274320"/>
          </a:xfrm>
          <a:prstGeom prst="rect">
            <a:avLst/>
          </a:prstGeom>
          <a:noFill/>
          <a:ln/>
        </p:spPr>
        <p:txBody>
          <a:bodyPr wrap="square" lIns="0" tIns="0" rIns="0" bIns="0" rtlCol="0" anchor="ctr"/>
          <a:lstStyle/>
          <a:p>
            <a:pPr indent="0" marL="0">
              <a:buNone/>
            </a:pPr>
            <a:r>
              <a:rPr lang="en-US" sz="1500" b="1" dirty="0">
                <a:solidFill>
                  <a:schemeClr val="bg1"/>
                </a:solidFill>
              </a:rPr>
              <a:t>API REST segura :8009</a:t>
            </a:r>
            <a:endParaRPr lang="en-US" sz="1500" dirty="0"/>
          </a:p>
        </p:txBody>
      </p:sp>
      <p:sp>
        <p:nvSpPr>
          <p:cNvPr id="14" name="Text 12"/>
          <p:cNvSpPr txBox="1"/>
          <p:nvPr/>
        </p:nvSpPr>
        <p:spPr>
          <a:xfrm>
            <a:off x="1097280" y="3200400"/>
            <a:ext cx="4206240" cy="457200"/>
          </a:xfrm>
          <a:prstGeom prst="rect">
            <a:avLst/>
          </a:prstGeom>
          <a:noFill/>
          <a:ln/>
        </p:spPr>
        <p:txBody>
          <a:bodyPr wrap="square" lIns="0" tIns="0" rIns="0" bIns="0" rtlCol="0" anchor="t"/>
          <a:lstStyle/>
          <a:p>
            <a:pPr indent="0" marL="0">
              <a:buNone/>
            </a:pPr>
            <a:r>
              <a:rPr lang="en-US" sz="1100" dirty="0">
                <a:solidFill>
                  <a:srgbClr val="CBD5E1"/>
                </a:solidFill>
              </a:rPr>
              <a:t>401 → login 200 → ráfaga 429 → invitado 403 → auditoría</a:t>
            </a:r>
            <a:endParaRPr lang="en-US" sz="1100" dirty="0"/>
          </a:p>
        </p:txBody>
      </p:sp>
      <p:sp>
        <p:nvSpPr>
          <p:cNvPr id="15" name="Shape 13"/>
          <p:cNvSpPr/>
          <p:nvPr/>
        </p:nvSpPr>
        <p:spPr>
          <a:xfrm>
            <a:off x="457200" y="3794760"/>
            <a:ext cx="457200" cy="457200"/>
          </a:xfrm>
          <a:prstGeom prst="ellipse">
            <a:avLst/>
          </a:prstGeom>
          <a:solidFill>
            <a:srgbClr val="E4572E"/>
          </a:solidFill>
          <a:ln w="12700">
            <a:solidFill>
              <a:srgbClr val="E4572E"/>
            </a:solidFill>
            <a:prstDash val="solid"/>
          </a:ln>
        </p:spPr>
      </p:sp>
      <p:sp>
        <p:nvSpPr>
          <p:cNvPr id="16" name="Text 14"/>
          <p:cNvSpPr txBox="1"/>
          <p:nvPr/>
        </p:nvSpPr>
        <p:spPr>
          <a:xfrm>
            <a:off x="457200" y="3794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Text 15"/>
          <p:cNvSpPr txBox="1"/>
          <p:nvPr/>
        </p:nvSpPr>
        <p:spPr>
          <a:xfrm>
            <a:off x="1097280" y="3767328"/>
            <a:ext cx="4206240" cy="274320"/>
          </a:xfrm>
          <a:prstGeom prst="rect">
            <a:avLst/>
          </a:prstGeom>
          <a:noFill/>
          <a:ln/>
        </p:spPr>
        <p:txBody>
          <a:bodyPr wrap="square" lIns="0" tIns="0" rIns="0" bIns="0" rtlCol="0" anchor="ctr"/>
          <a:lstStyle/>
          <a:p>
            <a:pPr indent="0" marL="0">
              <a:buNone/>
            </a:pPr>
            <a:r>
              <a:rPr lang="en-US" sz="1500" b="1" dirty="0">
                <a:solidFill>
                  <a:schemeClr val="bg1"/>
                </a:solidFill>
              </a:rPr>
              <a:t>Data lake en MinIO :9001</a:t>
            </a:r>
            <a:endParaRPr lang="en-US" sz="1500" dirty="0"/>
          </a:p>
        </p:txBody>
      </p:sp>
      <p:sp>
        <p:nvSpPr>
          <p:cNvPr id="18" name="Text 16"/>
          <p:cNvSpPr txBox="1"/>
          <p:nvPr/>
        </p:nvSpPr>
        <p:spPr>
          <a:xfrm>
            <a:off x="1097280" y="4069080"/>
            <a:ext cx="4206240" cy="457200"/>
          </a:xfrm>
          <a:prstGeom prst="rect">
            <a:avLst/>
          </a:prstGeom>
          <a:noFill/>
          <a:ln/>
        </p:spPr>
        <p:txBody>
          <a:bodyPr wrap="square" lIns="0" tIns="0" rIns="0" bIns="0" rtlCol="0" anchor="t"/>
          <a:lstStyle/>
          <a:p>
            <a:pPr indent="0" marL="0">
              <a:buNone/>
            </a:pPr>
            <a:r>
              <a:rPr lang="en-US" sz="1100" dirty="0">
                <a:solidFill>
                  <a:srgbClr val="CBD5E1"/>
                </a:solidFill>
              </a:rPr>
              <a:t>Etapas, models/vN y el puntero champion.json</a:t>
            </a:r>
            <a:endParaRPr lang="en-US" sz="1100" dirty="0"/>
          </a:p>
        </p:txBody>
      </p:sp>
      <p:sp>
        <p:nvSpPr>
          <p:cNvPr id="19" name="Próximos pasos"/>
          <p:cNvSpPr/>
          <p:nvPr/>
        </p:nvSpPr>
        <p:spPr>
          <a:xfrm>
            <a:off x="5669280" y="1097280"/>
            <a:ext cx="3017520" cy="3154680"/>
          </a:xfrm>
          <a:prstGeom prst="roundRect">
            <a:avLst>
              <a:gd name="adj" fmla="val 2424"/>
            </a:avLst>
          </a:prstGeom>
          <a:solidFill>
            <a:srgbClr val="1C2B42"/>
          </a:solidFill>
          <a:ln w="12700">
            <a:solidFill>
              <a:srgbClr val="1C2B42"/>
            </a:solidFill>
            <a:prstDash val="solid"/>
          </a:ln>
        </p:spPr>
      </p:sp>
      <p:sp>
        <p:nvSpPr>
          <p:cNvPr id="20" name="Text 18"/>
          <p:cNvSpPr txBox="1"/>
          <p:nvPr/>
        </p:nvSpPr>
        <p:spPr>
          <a:xfrm>
            <a:off x="5897880" y="1280160"/>
            <a:ext cx="2651760" cy="320040"/>
          </a:xfrm>
          <a:prstGeom prst="rect">
            <a:avLst/>
          </a:prstGeom>
          <a:noFill/>
          <a:ln/>
        </p:spPr>
        <p:txBody>
          <a:bodyPr wrap="square" lIns="0" tIns="0" rIns="0" bIns="0" rtlCol="0" anchor="ctr"/>
          <a:lstStyle/>
          <a:p>
            <a:pPr indent="0" marL="0">
              <a:buNone/>
            </a:pPr>
            <a:r>
              <a:rPr lang="en-US" sz="1500" b="1" dirty="0">
                <a:solidFill>
                  <a:schemeClr val="accent2"/>
                </a:solidFill>
              </a:rPr>
              <a:t>Límites y próximo paso</a:t>
            </a:r>
            <a:endParaRPr lang="en-US" sz="1500" dirty="0"/>
          </a:p>
        </p:txBody>
      </p:sp>
      <p:sp>
        <p:nvSpPr>
          <p:cNvPr id="21" name="Text 19"/>
          <p:cNvSpPr txBox="1"/>
          <p:nvPr/>
        </p:nvSpPr>
        <p:spPr>
          <a:xfrm>
            <a:off x="5897880" y="1737360"/>
            <a:ext cx="2651760" cy="2377440"/>
          </a:xfrm>
          <a:prstGeom prst="rect">
            <a:avLst/>
          </a:prstGeom>
          <a:noFill/>
          <a:ln/>
        </p:spPr>
        <p:txBody>
          <a:bodyPr wrap="square" lIns="0" tIns="0" rIns="0" bIns="0" rtlCol="0" anchor="t"/>
          <a:lstStyle/>
          <a:p>
            <a:pPr marL="342900" indent="-342900">
              <a:spcAft>
                <a:spcPts val="1000"/>
              </a:spcAft>
              <a:buSzPct val="100000"/>
              <a:buChar char="•"/>
            </a:pPr>
            <a:r>
              <a:rPr lang="en-US" sz="1300" b="1" dirty="0">
                <a:solidFill>
                  <a:schemeClr val="bg1"/>
                </a:solidFill>
              </a:rPr>
              <a:t>Monitoreo: </a:t>
            </a:r>
            <a:pPr indent="0" marL="0">
              <a:spcAft>
                <a:spcPts val="1000"/>
              </a:spcAft>
              <a:buNone/>
            </a:pPr>
            <a:r>
              <a:rPr lang="en-US" sz="1300" dirty="0">
                <a:solidFill>
                  <a:schemeClr val="bg1"/>
                </a:solidFill>
              </a:rPr>
              <a:t>que la alerta de drift dispare el reentrenamiento en Airflow</a:t>
            </a:r>
            <a:endParaRPr lang="en-US" sz="1300" dirty="0"/>
          </a:p>
          <a:p>
            <a:pPr marL="342900" indent="-342900">
              <a:spcAft>
                <a:spcPts val="1000"/>
              </a:spcAft>
              <a:buSzPct val="100000"/>
              <a:buChar char="•"/>
            </a:pPr>
            <a:r>
              <a:rPr lang="en-US" sz="1300" b="1" dirty="0">
                <a:solidFill>
                  <a:schemeClr val="bg1"/>
                </a:solidFill>
              </a:rPr>
              <a:t>Streaming simulado </a:t>
            </a:r>
            <a:pPr indent="0" marL="0">
              <a:spcAft>
                <a:spcPts val="1000"/>
              </a:spcAft>
              <a:buNone/>
            </a:pPr>
            <a:r>
              <a:rPr lang="en-US" sz="1300" dirty="0">
                <a:solidFill>
                  <a:schemeClr val="bg1"/>
                </a:solidFill>
              </a:rPr>
              <a:t>con cola en memoria, no Kafka</a:t>
            </a:r>
            <a:endParaRPr lang="en-US" sz="1300" dirty="0"/>
          </a:p>
          <a:p>
            <a:pPr marL="342900" indent="-342900">
              <a:spcAft>
                <a:spcPts val="1000"/>
              </a:spcAft>
              <a:buSzPct val="100000"/>
              <a:buChar char="•"/>
            </a:pPr>
            <a:r>
              <a:rPr lang="en-US" sz="1300" b="1" dirty="0">
                <a:solidFill>
                  <a:schemeClr val="bg1"/>
                </a:solidFill>
              </a:rPr>
              <a:t>Federado didáctico </a:t>
            </a:r>
            <a:pPr indent="0" marL="0">
              <a:spcAft>
                <a:spcPts val="1000"/>
              </a:spcAft>
              <a:buNone/>
            </a:pPr>
            <a:r>
              <a:rPr lang="en-US" sz="1300" dirty="0">
                <a:solidFill>
                  <a:schemeClr val="bg1"/>
                </a:solidFill>
              </a:rPr>
              <a:t>sobre softmax, no sobre el RandomForest</a:t>
            </a:r>
            <a:endParaRPr lang="en-US" sz="1300" dirty="0"/>
          </a:p>
        </p:txBody>
      </p:sp>
    </p:spTree>
  </p:cSld>
  <p:clrMapOvr>
    <a:masterClrMapping/>
  </p:clrMapOvr>
</p:sld>
</file>

<file path=ppt/theme/theme1.xml><?xml version="1.0" encoding="utf-8"?>
<a:theme xmlns:a="http://schemas.openxmlformats.org/drawingml/2006/main" name="Stroke MLOps">
  <a:themeElements>
    <a:clrScheme name="Stroke MLOps">
      <a:dk1>
        <a:srgbClr val="0F1B2D"/>
      </a:dk1>
      <a:lt1>
        <a:srgbClr val="FFFFFF"/>
      </a:lt1>
      <a:dk2>
        <a:srgbClr val="4A5568"/>
      </a:dk2>
      <a:lt2>
        <a:srgbClr val="EEF2F7"/>
      </a:lt2>
      <a:accent1>
        <a:srgbClr val="E4572E"/>
      </a:accent1>
      <a:accent2>
        <a:srgbClr val="2A9D8F"/>
      </a:accent2>
      <a:accent3>
        <a:srgbClr val="3D5A80"/>
      </a:accent3>
      <a:accent4>
        <a:srgbClr val="8E5BB5"/>
      </a:accent4>
      <a:accent5>
        <a:srgbClr val="F2A541"/>
      </a:accent5>
      <a:accent6>
        <a:srgbClr val="1F3A5F"/>
      </a:accent6>
      <a:hlink>
        <a:srgbClr val="2A9D8F"/>
      </a:hlink>
      <a:folHlink>
        <a:srgbClr val="8E5BB5"/>
      </a:folHlink>
    </a:clrScheme>
    <a:fontScheme name="Stroke MLO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Plataforma de predicción de riesgo de stroke</dc:title>
  <dc:subject>PptxGenJS Presentation</dc:subject>
  <dc:creator>Cecilia Villanueva</dc:creator>
  <cp:lastModifiedBy>Cecilia Villanueva</cp:lastModifiedBy>
  <cp:revision>1</cp:revision>
  <dcterms:created xsi:type="dcterms:W3CDTF">2026-10-16T03:05:02Z</dcterms:created>
  <dcterms:modified xsi:type="dcterms:W3CDTF">2026-10-16T03:05:02Z</dcterms:modified>
</cp:coreProperties>
</file>